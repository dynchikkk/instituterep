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F6845-4BE5-4E42-96C6-44B41C2FEF99}" type="datetimeFigureOut">
              <a:rPr lang="ru-RU" smtClean="0"/>
              <a:pPr/>
              <a:t>13.06.2018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F1658-7AB7-4E31-8AC4-A9518F6F287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D9024CEE-4DA4-4469-85E5-F966B04A7D14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0E92-D9B5-41D3-BECB-AE42B0694D03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55FA-3C7E-4066-B35D-E1E23ABAA009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3D3B-7CB5-42AB-8695-121451E49167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D634703-AB1C-4CAD-8C00-6FB1DD43B512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1FA92752-69CD-4B78-8765-F861DCA120B4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2BB0-6F07-40D7-BE56-7772FC5A062D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F80D-E1A0-4F11-9D28-6B07FB61FFDA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45E1-8F0F-4BA8-BAEF-EC8749A6DC33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8E599-958F-438B-A5ED-34DAAAD7E86F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6EDB7-14BE-4316-AD72-A5A9D961DE60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4ED9DD23-A311-40BA-B2DE-28EAB61099A1}" type="datetime1">
              <a:rPr lang="ru-RU" smtClean="0"/>
              <a:pPr/>
              <a:t>13.06.2018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A0D89C17-5031-4A6E-B0D0-A834BDB9C9B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57200" y="1052736"/>
            <a:ext cx="8458200" cy="2819177"/>
          </a:xfrm>
        </p:spPr>
        <p:txBody>
          <a:bodyPr>
            <a:normAutofit/>
          </a:bodyPr>
          <a:lstStyle/>
          <a:p>
            <a:r>
              <a:rPr lang="ru-RU" dirty="0" smtClean="0"/>
              <a:t>Моделирование и исследование алгоритмов управления очередями в коммутаторах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57200" y="3908648"/>
            <a:ext cx="6851104" cy="1752600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Магистрант </a:t>
            </a:r>
            <a:r>
              <a:rPr lang="ru-RU" dirty="0" err="1" smtClean="0">
                <a:solidFill>
                  <a:schemeClr val="tx1"/>
                </a:solidFill>
              </a:rPr>
              <a:t>Аладьев</a:t>
            </a:r>
            <a:r>
              <a:rPr lang="ru-RU" dirty="0" smtClean="0">
                <a:solidFill>
                  <a:schemeClr val="tx1"/>
                </a:solidFill>
              </a:rPr>
              <a:t> Ю.Ю.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Руководитель: к.т.н., профессор </a:t>
            </a:r>
            <a:r>
              <a:rPr lang="ru-RU" dirty="0" err="1" smtClean="0">
                <a:solidFill>
                  <a:schemeClr val="tx1"/>
                </a:solidFill>
              </a:rPr>
              <a:t>Коннов</a:t>
            </a:r>
            <a:r>
              <a:rPr lang="ru-RU" dirty="0" smtClean="0">
                <a:solidFill>
                  <a:schemeClr val="tx1"/>
                </a:solidFill>
              </a:rPr>
              <a:t> Н.Н.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17984"/>
            <a:ext cx="8229600" cy="1066800"/>
          </a:xfrm>
        </p:spPr>
        <p:txBody>
          <a:bodyPr/>
          <a:lstStyle/>
          <a:p>
            <a:r>
              <a:rPr lang="ru-RU" dirty="0" smtClean="0"/>
              <a:t>Цель работы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61760"/>
          </a:xfrm>
        </p:spPr>
        <p:txBody>
          <a:bodyPr>
            <a:normAutofit/>
          </a:bodyPr>
          <a:lstStyle/>
          <a:p>
            <a:pPr marL="90488" indent="0" algn="just">
              <a:buNone/>
            </a:pPr>
            <a:r>
              <a:rPr lang="ru-RU" sz="2600" i="1" u="sng" dirty="0" smtClean="0">
                <a:latin typeface="Times New Roman" pitchFamily="18" charset="0"/>
                <a:cs typeface="Times New Roman" pitchFamily="18" charset="0"/>
              </a:rPr>
              <a:t>Цель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: разработка моделей алгоритмов управления очередями  в коммутаторах и исследование вероятностно-временных характеристик системы в зависимости от интенсивности поступающей нагрузки и выбранного алгоритма управления очередями.</a:t>
            </a:r>
          </a:p>
          <a:p>
            <a:pPr marL="90488" indent="0" algn="just">
              <a:buNone/>
            </a:pPr>
            <a:r>
              <a:rPr lang="ru-RU" sz="2600" i="1" u="sng" dirty="0" smtClean="0">
                <a:latin typeface="Times New Roman" pitchFamily="18" charset="0"/>
                <a:cs typeface="Times New Roman" pitchFamily="18" charset="0"/>
              </a:rPr>
              <a:t>Объект исследования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: коммутатор </a:t>
            </a:r>
            <a:r>
              <a:rPr lang="ru-RU" sz="26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с поддержкой качества обслуживания.</a:t>
            </a:r>
          </a:p>
          <a:p>
            <a:pPr marL="90488" indent="0" algn="just">
              <a:buNone/>
            </a:pPr>
            <a:r>
              <a:rPr lang="ru-RU" sz="2600" i="1" u="sng" dirty="0" smtClean="0">
                <a:latin typeface="Times New Roman" pitchFamily="18" charset="0"/>
                <a:cs typeface="Times New Roman" pitchFamily="18" charset="0"/>
              </a:rPr>
              <a:t>Предмет исследования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: алгоритмы управления очередями обработки сетевого трафика в коммутаторах  </a:t>
            </a:r>
            <a:endParaRPr lang="ru-RU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Что такое качество обслуживание </a:t>
            </a:r>
            <a:r>
              <a:rPr lang="en-US" dirty="0" err="1" smtClean="0"/>
              <a:t>QoS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325112"/>
          </a:xfrm>
        </p:spPr>
        <p:txBody>
          <a:bodyPr>
            <a:normAutofit/>
          </a:bodyPr>
          <a:lstStyle/>
          <a:p>
            <a:pPr marL="90488" indent="0" algn="just">
              <a:buNone/>
            </a:pPr>
            <a:r>
              <a:rPr lang="ru-RU" sz="2600" dirty="0" err="1" smtClean="0">
                <a:latin typeface="Times New Roman"/>
                <a:ea typeface="Times New Roman"/>
              </a:rPr>
              <a:t>Quality</a:t>
            </a:r>
            <a:r>
              <a:rPr lang="ru-RU" sz="2600" dirty="0" smtClean="0">
                <a:latin typeface="Times New Roman"/>
                <a:ea typeface="Times New Roman"/>
              </a:rPr>
              <a:t> </a:t>
            </a:r>
            <a:r>
              <a:rPr lang="ru-RU" sz="2600" dirty="0" err="1" smtClean="0">
                <a:latin typeface="Times New Roman"/>
                <a:ea typeface="Times New Roman"/>
              </a:rPr>
              <a:t>of</a:t>
            </a:r>
            <a:r>
              <a:rPr lang="ru-RU" sz="2600" dirty="0" smtClean="0">
                <a:latin typeface="Times New Roman"/>
                <a:ea typeface="Times New Roman"/>
              </a:rPr>
              <a:t> </a:t>
            </a:r>
            <a:r>
              <a:rPr lang="ru-RU" sz="2600" dirty="0" err="1" smtClean="0">
                <a:latin typeface="Times New Roman"/>
                <a:ea typeface="Times New Roman"/>
              </a:rPr>
              <a:t>Service</a:t>
            </a:r>
            <a:r>
              <a:rPr lang="ru-RU" sz="2600" dirty="0" smtClean="0">
                <a:latin typeface="Times New Roman"/>
                <a:ea typeface="Times New Roman"/>
              </a:rPr>
              <a:t> (</a:t>
            </a:r>
            <a:r>
              <a:rPr lang="ru-RU" sz="2600" dirty="0" err="1" smtClean="0">
                <a:latin typeface="Times New Roman"/>
                <a:ea typeface="Times New Roman"/>
              </a:rPr>
              <a:t>QoS</a:t>
            </a:r>
            <a:r>
              <a:rPr lang="ru-RU" sz="2600" dirty="0" smtClean="0">
                <a:latin typeface="Times New Roman"/>
                <a:ea typeface="Times New Roman"/>
              </a:rPr>
              <a:t>) — технология предоставления различным классам трафика различных приоритетов в обслуживании – качества обслуживания. </a:t>
            </a:r>
            <a:endParaRPr lang="en-US" sz="2600" dirty="0" smtClean="0">
              <a:latin typeface="Times New Roman"/>
              <a:ea typeface="Times New Roman"/>
            </a:endParaRPr>
          </a:p>
          <a:p>
            <a:pPr marL="90488" indent="0" algn="just">
              <a:buNone/>
            </a:pPr>
            <a:endParaRPr lang="en-US" sz="2600" dirty="0" smtClean="0">
              <a:latin typeface="Times New Roman"/>
            </a:endParaRPr>
          </a:p>
          <a:p>
            <a:pPr marL="90488" indent="0" algn="just">
              <a:buNone/>
            </a:pPr>
            <a:r>
              <a:rPr lang="ru-RU" sz="2600" dirty="0" smtClean="0">
                <a:latin typeface="Times New Roman"/>
              </a:rPr>
              <a:t>Механизмы реализации </a:t>
            </a:r>
            <a:r>
              <a:rPr lang="en-US" sz="2600" dirty="0" err="1" smtClean="0">
                <a:latin typeface="Times New Roman"/>
              </a:rPr>
              <a:t>QoS</a:t>
            </a:r>
            <a:r>
              <a:rPr lang="ru-RU" sz="2600" dirty="0" smtClean="0">
                <a:latin typeface="Times New Roman"/>
              </a:rPr>
              <a:t>:</a:t>
            </a:r>
          </a:p>
          <a:p>
            <a:pPr lvl="0"/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механизмы маркирования;</a:t>
            </a:r>
          </a:p>
          <a:p>
            <a:pPr lvl="0"/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механизмы обслуживания очередей;</a:t>
            </a:r>
          </a:p>
          <a:p>
            <a:pPr lvl="0"/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механизмы управления очередями;</a:t>
            </a:r>
          </a:p>
          <a:p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механизмы управления полосой пропускания.</a:t>
            </a:r>
            <a:endParaRPr lang="ru-RU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1798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Классификация алгоритмов управления очередями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2676" y="1844824"/>
            <a:ext cx="7158649" cy="4133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066800"/>
          </a:xfrm>
        </p:spPr>
        <p:txBody>
          <a:bodyPr/>
          <a:lstStyle/>
          <a:p>
            <a:r>
              <a:rPr lang="ru-RU" dirty="0" smtClean="0"/>
              <a:t>Алгоритм </a:t>
            </a:r>
            <a:r>
              <a:rPr lang="en-US" dirty="0" err="1" smtClean="0"/>
              <a:t>TailDrop</a:t>
            </a:r>
            <a:endParaRPr lang="ru-RU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924944"/>
            <a:ext cx="3919811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67944" y="1988840"/>
            <a:ext cx="4464496" cy="936104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043608" y="5949280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Зависимость вероятности сброса от длины очереди</a:t>
            </a:r>
            <a:endParaRPr lang="ru-RU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17984"/>
            <a:ext cx="8229600" cy="1066800"/>
          </a:xfrm>
        </p:spPr>
        <p:txBody>
          <a:bodyPr/>
          <a:lstStyle/>
          <a:p>
            <a:r>
              <a:rPr lang="ru-RU" dirty="0" smtClean="0"/>
              <a:t>Алгоритм</a:t>
            </a:r>
            <a:r>
              <a:rPr lang="en-US" dirty="0" smtClean="0"/>
              <a:t> RED</a:t>
            </a:r>
            <a:endParaRPr lang="ru-RU" dirty="0"/>
          </a:p>
        </p:txBody>
      </p:sp>
      <p:pic>
        <p:nvPicPr>
          <p:cNvPr id="4" name="Рисунок 3" descr="ÐÐ°ÑÑÐ¸Ð½ÐºÐ¸ Ð¿Ð¾ Ð·Ð°Ð¿ÑÐ¾ÑÑ Ð°Ð»Ð³Ð¾ÑÐ¸ÑÐ¼ red"/>
          <p:cNvPicPr/>
          <p:nvPr/>
        </p:nvPicPr>
        <p:blipFill>
          <a:blip r:embed="rId2" cstate="print"/>
          <a:srcRect r="53005"/>
          <a:stretch>
            <a:fillRect/>
          </a:stretch>
        </p:blipFill>
        <p:spPr bwMode="auto">
          <a:xfrm>
            <a:off x="1043608" y="2492896"/>
            <a:ext cx="396044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043608" y="5949280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Зависимость вероятности сброса от усредненной длины очереди</a:t>
            </a:r>
            <a:endParaRPr lang="ru-RU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67944" y="1772816"/>
            <a:ext cx="4860032" cy="1368152"/>
          </a:xfrm>
          <a:prstGeom prst="rect">
            <a:avLst/>
          </a:prstGeom>
          <a:noFill/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6016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Обобщенная структура модели буфера коммутатора</a:t>
            </a:r>
            <a:endParaRPr lang="ru-RU" dirty="0"/>
          </a:p>
        </p:txBody>
      </p:sp>
      <p:pic>
        <p:nvPicPr>
          <p:cNvPr id="4" name="Рисунок 3" descr="UNIT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536" y="2276872"/>
            <a:ext cx="8280920" cy="3816425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1798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Модель буфера выходного порта коммутатора</a:t>
            </a:r>
            <a:endParaRPr lang="ru-RU" dirty="0"/>
          </a:p>
        </p:txBody>
      </p:sp>
      <p:pic>
        <p:nvPicPr>
          <p:cNvPr id="4" name="Рисунок 3" descr="Buffe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520" y="1484784"/>
            <a:ext cx="8568952" cy="5229200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17984"/>
            <a:ext cx="8229600" cy="1066800"/>
          </a:xfrm>
        </p:spPr>
        <p:txBody>
          <a:bodyPr/>
          <a:lstStyle/>
          <a:p>
            <a:r>
              <a:rPr lang="ru-RU" dirty="0" smtClean="0"/>
              <a:t>Модель алгоритма </a:t>
            </a:r>
            <a:r>
              <a:rPr lang="en-US" dirty="0" err="1" smtClean="0"/>
              <a:t>TailDrop</a:t>
            </a:r>
            <a:endParaRPr lang="ru-RU" dirty="0"/>
          </a:p>
        </p:txBody>
      </p:sp>
      <p:pic>
        <p:nvPicPr>
          <p:cNvPr id="4" name="Рисунок 3" descr="TailDrop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520" y="1412776"/>
            <a:ext cx="8568952" cy="5256584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66800"/>
          </a:xfrm>
        </p:spPr>
        <p:txBody>
          <a:bodyPr/>
          <a:lstStyle/>
          <a:p>
            <a:r>
              <a:rPr lang="ru-RU" dirty="0" smtClean="0"/>
              <a:t>Модель алгоритма </a:t>
            </a:r>
            <a:r>
              <a:rPr lang="en-US" dirty="0" smtClean="0"/>
              <a:t>RED</a:t>
            </a:r>
            <a:endParaRPr lang="ru-RU" dirty="0"/>
          </a:p>
        </p:txBody>
      </p:sp>
      <p:pic>
        <p:nvPicPr>
          <p:cNvPr id="4" name="Рисунок 3" descr="RED_исправленный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700808"/>
            <a:ext cx="9144000" cy="4579183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Исследование на тестовом наборе сетевого трафика алгоритма </a:t>
            </a:r>
            <a:r>
              <a:rPr lang="en-US" dirty="0" err="1" smtClean="0"/>
              <a:t>TailDrop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049" name="Object 1"/>
          <p:cNvGraphicFramePr>
            <a:graphicFrameLocks noChangeAspect="1"/>
          </p:cNvGraphicFramePr>
          <p:nvPr/>
        </p:nvGraphicFramePr>
        <p:xfrm>
          <a:off x="251520" y="1628800"/>
          <a:ext cx="8640960" cy="5093016"/>
        </p:xfrm>
        <a:graphic>
          <a:graphicData uri="http://schemas.openxmlformats.org/presentationml/2006/ole">
            <p:oleObj spid="_x0000_s2049" name="Visio" r:id="rId3" imgW="6928059" imgH="4075396" progId="Visio.Drawing.11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1798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Исследование на тестовом наборе сетевого трафика алгоритма </a:t>
            </a:r>
            <a:r>
              <a:rPr lang="en-US" dirty="0" smtClean="0"/>
              <a:t>RED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8424936" cy="5110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Исследование</a:t>
            </a:r>
            <a:r>
              <a:rPr lang="en-US" dirty="0" smtClean="0"/>
              <a:t> </a:t>
            </a:r>
            <a:r>
              <a:rPr lang="ru-RU" dirty="0" smtClean="0"/>
              <a:t>на наборе трафика с загрузкой 80%</a:t>
            </a:r>
            <a:endParaRPr lang="ru-RU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467544" y="1484784"/>
          <a:ext cx="8363271" cy="3247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757"/>
                <a:gridCol w="2787757"/>
                <a:gridCol w="2787757"/>
              </a:tblGrid>
              <a:tr h="173583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r>
                        <a:rPr lang="ru-RU" baseline="0" dirty="0" smtClean="0"/>
                        <a:t> отброшенных пакетов стохастического трафика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Кол-во</a:t>
                      </a:r>
                      <a:r>
                        <a:rPr lang="ru-RU" baseline="0" dirty="0" smtClean="0"/>
                        <a:t> отброшенных пакетов регулярного трафика</a:t>
                      </a:r>
                      <a:endParaRPr lang="ru-RU" dirty="0" smtClean="0"/>
                    </a:p>
                  </a:txBody>
                  <a:tcPr/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lang="ru-RU" dirty="0" smtClean="0"/>
                        <a:t>Алгоритм</a:t>
                      </a:r>
                      <a:r>
                        <a:rPr lang="ru-RU" baseline="0" dirty="0" smtClean="0"/>
                        <a:t> </a:t>
                      </a:r>
                      <a:r>
                        <a:rPr lang="en-US" baseline="0" dirty="0" err="1" smtClean="0"/>
                        <a:t>TailDrop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59  (58%)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43  (42 %)</a:t>
                      </a:r>
                      <a:endParaRPr lang="ru-RU" dirty="0"/>
                    </a:p>
                  </a:txBody>
                  <a:tcPr anchor="ctr"/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lang="ru-RU" dirty="0" smtClean="0"/>
                        <a:t>Алгоритм</a:t>
                      </a:r>
                      <a:r>
                        <a:rPr lang="ru-RU" baseline="0" dirty="0" smtClean="0"/>
                        <a:t> </a:t>
                      </a:r>
                      <a:r>
                        <a:rPr lang="en-US" baseline="0" dirty="0" smtClean="0"/>
                        <a:t>RED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112 (93%)</a:t>
                      </a:r>
                      <a:endParaRPr lang="ru-RU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 (7%)</a:t>
                      </a:r>
                      <a:endParaRPr lang="ru-RU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ru-RU" sz="6000" dirty="0" smtClean="0"/>
              <a:t>Спасибо за внимание!</a:t>
            </a:r>
            <a:endParaRPr lang="ru-RU" sz="60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9C17-5031-4A6E-B0D0-A834BDB9C9BC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Городская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217</TotalTime>
  <Words>223</Words>
  <Application>Microsoft Office PowerPoint</Application>
  <PresentationFormat>Экран (4:3)</PresentationFormat>
  <Paragraphs>50</Paragraphs>
  <Slides>14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Городская</vt:lpstr>
      <vt:lpstr>Visio</vt:lpstr>
      <vt:lpstr>Моделирование и исследование алгоритмов управления очередями в коммутаторах</vt:lpstr>
      <vt:lpstr>Цель работы</vt:lpstr>
      <vt:lpstr>Что такое качество обслуживание QoS</vt:lpstr>
      <vt:lpstr>Классификация алгоритмов управления очередями</vt:lpstr>
      <vt:lpstr>Алгоритм TailDrop</vt:lpstr>
      <vt:lpstr>Алгоритм RED</vt:lpstr>
      <vt:lpstr>Обобщенная структура модели буфера коммутатора</vt:lpstr>
      <vt:lpstr>Модель буфера выходного порта коммутатора</vt:lpstr>
      <vt:lpstr>Модель алгоритма TailDrop</vt:lpstr>
      <vt:lpstr>Модель алгоритма RED</vt:lpstr>
      <vt:lpstr>Исследование на тестовом наборе сетевого трафика алгоритма TailDrop</vt:lpstr>
      <vt:lpstr>Исследование на тестовом наборе сетевого трафика алгоритма RED</vt:lpstr>
      <vt:lpstr>Исследование на наборе трафика с загрузкой 80%</vt:lpstr>
      <vt:lpstr>Спасибо за внимание!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Моделирование и исследование алгоритмов управления очередями в коммутаторах</dc:title>
  <dc:creator>cvds</dc:creator>
  <cp:lastModifiedBy>cvds</cp:lastModifiedBy>
  <cp:revision>26</cp:revision>
  <dcterms:created xsi:type="dcterms:W3CDTF">2018-06-05T17:27:51Z</dcterms:created>
  <dcterms:modified xsi:type="dcterms:W3CDTF">2018-06-13T08:19:45Z</dcterms:modified>
</cp:coreProperties>
</file>