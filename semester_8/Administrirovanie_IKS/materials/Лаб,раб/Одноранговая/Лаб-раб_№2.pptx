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97" r:id="rId1"/>
  </p:sldMasterIdLst>
  <p:notesMasterIdLst>
    <p:notesMasterId r:id="rId69"/>
  </p:notesMasterIdLst>
  <p:handoutMasterIdLst>
    <p:handoutMasterId r:id="rId70"/>
  </p:handoutMasterIdLst>
  <p:sldIdLst>
    <p:sldId id="440" r:id="rId2"/>
    <p:sldId id="482" r:id="rId3"/>
    <p:sldId id="488" r:id="rId4"/>
    <p:sldId id="461" r:id="rId5"/>
    <p:sldId id="489" r:id="rId6"/>
    <p:sldId id="484" r:id="rId7"/>
    <p:sldId id="490" r:id="rId8"/>
    <p:sldId id="491" r:id="rId9"/>
    <p:sldId id="492" r:id="rId10"/>
    <p:sldId id="493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501" r:id="rId19"/>
    <p:sldId id="502" r:id="rId20"/>
    <p:sldId id="503" r:id="rId21"/>
    <p:sldId id="504" r:id="rId22"/>
    <p:sldId id="505" r:id="rId23"/>
    <p:sldId id="506" r:id="rId24"/>
    <p:sldId id="470" r:id="rId25"/>
    <p:sldId id="507" r:id="rId26"/>
    <p:sldId id="508" r:id="rId27"/>
    <p:sldId id="516" r:id="rId28"/>
    <p:sldId id="517" r:id="rId29"/>
    <p:sldId id="539" r:id="rId30"/>
    <p:sldId id="540" r:id="rId31"/>
    <p:sldId id="541" r:id="rId32"/>
    <p:sldId id="509" r:id="rId33"/>
    <p:sldId id="510" r:id="rId34"/>
    <p:sldId id="511" r:id="rId35"/>
    <p:sldId id="512" r:id="rId36"/>
    <p:sldId id="513" r:id="rId37"/>
    <p:sldId id="514" r:id="rId38"/>
    <p:sldId id="515" r:id="rId39"/>
    <p:sldId id="542" r:id="rId40"/>
    <p:sldId id="543" r:id="rId41"/>
    <p:sldId id="544" r:id="rId42"/>
    <p:sldId id="545" r:id="rId43"/>
    <p:sldId id="520" r:id="rId44"/>
    <p:sldId id="521" r:id="rId45"/>
    <p:sldId id="522" r:id="rId46"/>
    <p:sldId id="523" r:id="rId47"/>
    <p:sldId id="524" r:id="rId48"/>
    <p:sldId id="546" r:id="rId49"/>
    <p:sldId id="547" r:id="rId50"/>
    <p:sldId id="548" r:id="rId51"/>
    <p:sldId id="480" r:id="rId52"/>
    <p:sldId id="518" r:id="rId53"/>
    <p:sldId id="519" r:id="rId54"/>
    <p:sldId id="525" r:id="rId55"/>
    <p:sldId id="526" r:id="rId56"/>
    <p:sldId id="527" r:id="rId57"/>
    <p:sldId id="528" r:id="rId58"/>
    <p:sldId id="529" r:id="rId59"/>
    <p:sldId id="530" r:id="rId60"/>
    <p:sldId id="531" r:id="rId61"/>
    <p:sldId id="532" r:id="rId62"/>
    <p:sldId id="533" r:id="rId63"/>
    <p:sldId id="534" r:id="rId64"/>
    <p:sldId id="535" r:id="rId65"/>
    <p:sldId id="536" r:id="rId66"/>
    <p:sldId id="537" r:id="rId67"/>
    <p:sldId id="538" r:id="rId68"/>
  </p:sldIdLst>
  <p:sldSz cx="9144000" cy="6858000" type="screen4x3"/>
  <p:notesSz cx="6669088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7DFBB0"/>
    <a:srgbClr val="8893A0"/>
    <a:srgbClr val="FFD7D7"/>
    <a:srgbClr val="E3FFD9"/>
    <a:srgbClr val="CCFF99"/>
    <a:srgbClr val="F5F391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24" autoAdjust="0"/>
    <p:restoredTop sz="99515" autoAdjust="0"/>
  </p:normalViewPr>
  <p:slideViewPr>
    <p:cSldViewPr>
      <p:cViewPr varScale="1">
        <p:scale>
          <a:sx n="86" d="100"/>
          <a:sy n="86" d="100"/>
        </p:scale>
        <p:origin x="126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 varScale="1">
        <p:scale>
          <a:sx n="74" d="100"/>
          <a:sy n="74" d="100"/>
        </p:scale>
        <p:origin x="-2184" y="-96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C483982-D13D-495B-8255-26CD6E6F6F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571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2D661D2-CB43-412C-8931-76ECB7A853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968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455E25-F188-44BA-9368-8ACF4EBB63C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37893" name="Нижний колонтитул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4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265" y="215856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1030288" cy="365125"/>
          </a:xfrm>
        </p:spPr>
        <p:txBody>
          <a:bodyPr/>
          <a:lstStyle>
            <a:lvl1pPr>
              <a:defRPr baseline="0">
                <a:solidFill>
                  <a:srgbClr val="8893A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4238625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5" y="1052513"/>
            <a:ext cx="4240213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44450" y="6532563"/>
            <a:ext cx="164306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rgbClr val="0070C0"/>
                </a:solidFill>
              </a:rPr>
              <a:t>РИ-2008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97675" y="93663"/>
            <a:ext cx="2157413" cy="64309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23850" y="93663"/>
            <a:ext cx="6321425" cy="64309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323850" y="93663"/>
            <a:ext cx="8631238" cy="64309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8631238" cy="26590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850" y="3863975"/>
            <a:ext cx="8631238" cy="26606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9366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31238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21547" name="Rectangle 11"/>
          <p:cNvSpPr>
            <a:spLocks noChangeArrowheads="1"/>
          </p:cNvSpPr>
          <p:nvPr userDrawn="1"/>
        </p:nvSpPr>
        <p:spPr bwMode="auto">
          <a:xfrm>
            <a:off x="323850" y="6596063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8" name="Rectangle 12"/>
          <p:cNvSpPr>
            <a:spLocks noChangeArrowheads="1"/>
          </p:cNvSpPr>
          <p:nvPr userDrawn="1"/>
        </p:nvSpPr>
        <p:spPr bwMode="auto">
          <a:xfrm>
            <a:off x="323850" y="6669088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9" name="Rectangle 13"/>
          <p:cNvSpPr>
            <a:spLocks noChangeArrowheads="1"/>
          </p:cNvSpPr>
          <p:nvPr userDrawn="1"/>
        </p:nvSpPr>
        <p:spPr bwMode="auto">
          <a:xfrm>
            <a:off x="323850" y="6740525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0" name="Rectangle 14"/>
          <p:cNvSpPr>
            <a:spLocks noChangeArrowheads="1"/>
          </p:cNvSpPr>
          <p:nvPr userDrawn="1"/>
        </p:nvSpPr>
        <p:spPr bwMode="auto">
          <a:xfrm>
            <a:off x="323850" y="6813550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2" name="Text Box 16"/>
          <p:cNvSpPr txBox="1">
            <a:spLocks noChangeArrowheads="1"/>
          </p:cNvSpPr>
          <p:nvPr userDrawn="1"/>
        </p:nvSpPr>
        <p:spPr bwMode="auto">
          <a:xfrm>
            <a:off x="7077075" y="6562725"/>
            <a:ext cx="2019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D2A1C4A-0E95-4010-821B-7B4B7286FD9D}" type="slidenum">
              <a:rPr lang="ru-RU" sz="1400" b="1"/>
              <a:pPr algn="r">
                <a:spcBef>
                  <a:spcPct val="50000"/>
                </a:spcBef>
                <a:defRPr/>
              </a:pPr>
              <a:t>‹#›</a:t>
            </a:fld>
            <a:endParaRPr lang="ru-RU" sz="1400" b="1">
              <a:solidFill>
                <a:srgbClr val="B2B2B2"/>
              </a:solidFill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  <p:sldLayoutId id="2147484105" r:id="rId12"/>
    <p:sldLayoutId id="2147484106" r:id="rId13"/>
    <p:sldLayoutId id="2147484107" r:id="rId14"/>
    <p:sldLayoutId id="2147484108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5" grpId="0"/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1759750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работа №</a:t>
            </a:r>
            <a:r>
              <a:rPr lang="en-US" sz="3600" b="1" dirty="0"/>
              <a:t>2</a:t>
            </a:r>
            <a:endParaRPr lang="ru-RU" sz="3600" b="1" dirty="0"/>
          </a:p>
          <a:p>
            <a:pPr marL="0" indent="0" algn="ctr">
              <a:buNone/>
            </a:pPr>
            <a:r>
              <a:rPr lang="ru-RU" sz="3600" b="1" dirty="0"/>
              <a:t>Основы администрирования рабочей станции под управлением ОС </a:t>
            </a:r>
            <a:r>
              <a:rPr lang="en-US" sz="3600" b="1"/>
              <a:t>Windows</a:t>
            </a:r>
            <a:endParaRPr lang="ru-RU" sz="36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Содержимое 1"/>
          <p:cNvSpPr>
            <a:spLocks noGrp="1"/>
          </p:cNvSpPr>
          <p:nvPr>
            <p:ph/>
          </p:nvPr>
        </p:nvSpPr>
        <p:spPr>
          <a:xfrm>
            <a:off x="0" y="1"/>
            <a:ext cx="9143999" cy="4500570"/>
          </a:xfrm>
        </p:spPr>
        <p:txBody>
          <a:bodyPr/>
          <a:lstStyle/>
          <a:p>
            <a:pPr algn="ctr">
              <a:buNone/>
            </a:pPr>
            <a:r>
              <a:rPr lang="ru-RU" sz="2400" b="1" dirty="0"/>
              <a:t>Учетные записи пользователей</a:t>
            </a:r>
          </a:p>
          <a:p>
            <a:pPr>
              <a:buNone/>
            </a:pPr>
            <a:endParaRPr lang="ru-RU" sz="2800" b="1" u="sng" dirty="0"/>
          </a:p>
          <a:p>
            <a:pPr>
              <a:buNone/>
            </a:pPr>
            <a:r>
              <a:rPr lang="ru-RU" sz="2800" b="1" u="sng" dirty="0"/>
              <a:t>Цель изучения</a:t>
            </a:r>
            <a:r>
              <a:rPr lang="ru-RU" sz="2800" dirty="0"/>
              <a:t>:</a:t>
            </a:r>
          </a:p>
          <a:p>
            <a:pPr>
              <a:buNone/>
            </a:pPr>
            <a:r>
              <a:rPr lang="ru-RU" sz="2800" dirty="0"/>
              <a:t>1.</a:t>
            </a:r>
            <a:r>
              <a:rPr lang="en-US" sz="2800" dirty="0" err="1"/>
              <a:t>созда</a:t>
            </a:r>
            <a:r>
              <a:rPr lang="ru-RU" sz="2800" dirty="0" err="1"/>
              <a:t>вать</a:t>
            </a:r>
            <a:r>
              <a:rPr lang="en-US" sz="2800" dirty="0"/>
              <a:t> </a:t>
            </a:r>
            <a:r>
              <a:rPr lang="ru-RU" sz="2800" dirty="0"/>
              <a:t>учетную запись </a:t>
            </a:r>
            <a:r>
              <a:rPr lang="en-US" sz="2800" dirty="0" err="1"/>
              <a:t>пользовател</a:t>
            </a:r>
            <a:r>
              <a:rPr lang="ru-RU" sz="2800" dirty="0"/>
              <a:t>я рабочей станции с правами администратора</a:t>
            </a:r>
            <a:r>
              <a:rPr lang="en-US" sz="2800" dirty="0"/>
              <a:t>;</a:t>
            </a:r>
            <a:endParaRPr lang="ru-RU" sz="2800" dirty="0"/>
          </a:p>
          <a:p>
            <a:pPr>
              <a:buNone/>
            </a:pPr>
            <a:r>
              <a:rPr lang="ru-RU" sz="2800" dirty="0"/>
              <a:t>2.</a:t>
            </a:r>
            <a:r>
              <a:rPr lang="en-US" sz="2800" dirty="0"/>
              <a:t> </a:t>
            </a:r>
            <a:r>
              <a:rPr lang="en-US" sz="2800" dirty="0" err="1"/>
              <a:t>созда</a:t>
            </a:r>
            <a:r>
              <a:rPr lang="ru-RU" sz="2800" dirty="0" err="1"/>
              <a:t>вать</a:t>
            </a:r>
            <a:r>
              <a:rPr lang="en-US" sz="2800" dirty="0"/>
              <a:t> </a:t>
            </a:r>
            <a:r>
              <a:rPr lang="ru-RU" sz="2800" dirty="0"/>
              <a:t>учетную запись </a:t>
            </a:r>
            <a:r>
              <a:rPr lang="en-US" sz="2800" dirty="0" err="1"/>
              <a:t>пользовател</a:t>
            </a:r>
            <a:r>
              <a:rPr lang="ru-RU" sz="2800" dirty="0"/>
              <a:t>я рабочей станции</a:t>
            </a:r>
            <a:r>
              <a:rPr lang="en-US" sz="2800" dirty="0"/>
              <a:t>;</a:t>
            </a:r>
            <a:endParaRPr lang="ru-RU" sz="2800" dirty="0"/>
          </a:p>
          <a:p>
            <a:pPr>
              <a:buNone/>
            </a:pPr>
            <a:r>
              <a:rPr lang="ru-RU" sz="2800" dirty="0"/>
              <a:t>3. менять пароль учетной записи пользователя;</a:t>
            </a:r>
          </a:p>
          <a:p>
            <a:pPr>
              <a:buNone/>
            </a:pPr>
            <a:r>
              <a:rPr lang="ru-RU" sz="2800" dirty="0"/>
              <a:t>4. отключать и включать учетную запись пользователя;</a:t>
            </a:r>
          </a:p>
          <a:p>
            <a:pPr>
              <a:buNone/>
            </a:pPr>
            <a:r>
              <a:rPr lang="ru-RU" sz="2800" dirty="0"/>
              <a:t>5. удалять учетную запись пользователя.</a:t>
            </a:r>
          </a:p>
          <a:p>
            <a:pPr marL="0" indent="457200">
              <a:spcBef>
                <a:spcPts val="0"/>
              </a:spcBef>
              <a:buNone/>
            </a:pPr>
            <a:endParaRPr lang="en-US" sz="2800" dirty="0"/>
          </a:p>
          <a:p>
            <a:pPr marL="0" indent="457200">
              <a:spcBef>
                <a:spcPts val="0"/>
              </a:spcBef>
              <a:buNone/>
            </a:pPr>
            <a:r>
              <a:rPr lang="ru-RU" sz="2800" dirty="0"/>
              <a:t> </a:t>
            </a:r>
            <a:endParaRPr lang="en-US" sz="2800" kern="1200" dirty="0">
              <a:latin typeface="Arial" charset="0"/>
            </a:endParaRPr>
          </a:p>
          <a:p>
            <a:pPr algn="ctr">
              <a:buNone/>
            </a:pPr>
            <a:endParaRPr lang="ru-RU" sz="1800" kern="1200" dirty="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1285860"/>
            <a:ext cx="497205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6109" y="0"/>
            <a:ext cx="9137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Задание №1.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С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озда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ть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учетную запись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пользовател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я рабочей станции с правами администратора.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Для этого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Пуск-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Панель управления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1142984"/>
            <a:ext cx="4031127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6109" y="0"/>
            <a:ext cx="91378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Администрирование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(двойной клик)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109" y="0"/>
            <a:ext cx="91378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Управление компьютером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(двойной клик)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6450" y="925942"/>
            <a:ext cx="4424376" cy="5741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109" y="0"/>
            <a:ext cx="91378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Локальные пользователи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(двойной клик)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24088" y="784202"/>
            <a:ext cx="4276737" cy="5864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109" y="0"/>
            <a:ext cx="91378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Пользователи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(двойной клик)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9763" y="949630"/>
            <a:ext cx="4733939" cy="5665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0113" y="1142984"/>
            <a:ext cx="7233665" cy="5081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6109" y="0"/>
            <a:ext cx="91378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на свободном месте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–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клик правой кнопкой, для вызова контекстного меню 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Новый пользователь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 rot="5400000">
            <a:off x="4714876" y="714356"/>
            <a:ext cx="3214710" cy="29289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1071546"/>
            <a:ext cx="609600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6109" y="0"/>
            <a:ext cx="91378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Задать логин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admin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), полное имя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(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одного из членов бригады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)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, описание пользователя. Задать пароль и свойства пароля.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Нажать "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Создать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"</a:t>
            </a:r>
          </a:p>
        </p:txBody>
      </p:sp>
      <p:cxnSp>
        <p:nvCxnSpPr>
          <p:cNvPr id="9" name="Прямая со стрелкой 8"/>
          <p:cNvCxnSpPr/>
          <p:nvPr/>
        </p:nvCxnSpPr>
        <p:spPr>
          <a:xfrm>
            <a:off x="0" y="2000240"/>
            <a:ext cx="428628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0" y="2357430"/>
            <a:ext cx="428628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>
            <a:off x="0" y="2643182"/>
            <a:ext cx="428628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0" y="3214686"/>
            <a:ext cx="428628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0" y="4429132"/>
            <a:ext cx="4286280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1571612"/>
            <a:ext cx="791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логин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0" y="2000240"/>
            <a:ext cx="12910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полное имя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0" y="2285992"/>
            <a:ext cx="10839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описание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0" y="2857496"/>
            <a:ext cx="8598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пароль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0" y="4071942"/>
            <a:ext cx="17769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свойства пароля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857232"/>
            <a:ext cx="60198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6109" y="0"/>
            <a:ext cx="91378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Сделать пользователя администратором рабочей станции.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Клик правой кнопкой на пользователе 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Свойства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642918"/>
            <a:ext cx="6876708" cy="5138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6109" y="0"/>
            <a:ext cx="9137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Вкладка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Членство в группах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Добавить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714356"/>
            <a:ext cx="6000792" cy="5369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109" y="0"/>
            <a:ext cx="9137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Кнопка 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Дополнительно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445058"/>
            <a:ext cx="6682669" cy="5412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6109" y="0"/>
            <a:ext cx="9137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Кнопка 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Поиск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109" y="0"/>
            <a:ext cx="9137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Кнопка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OK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476715"/>
            <a:ext cx="6072230" cy="557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714356"/>
            <a:ext cx="489585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28888" y="1266825"/>
            <a:ext cx="4086225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109" y="0"/>
            <a:ext cx="9137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Кнопка 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Применить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 OK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378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проверить членство пользователя в новой группе через его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Свойства;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выйти из рабочей станции как "начальный администратор":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857232"/>
            <a:ext cx="37719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 flipV="1">
            <a:off x="3500430" y="571480"/>
            <a:ext cx="2000264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0" y="1857364"/>
            <a:ext cx="9137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войти на станцию как созданный администратор.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378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Задание №2.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С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озда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ть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обычного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пользовател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я рабочей станции, который при первом входе на станцию должен поменять пароль.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выполнить те же действия, что и при создании администратора рабочей станции, но оставить созданного пользователя в группе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"Пользователи".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А в свойствах пароля пометить "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Потребовать смену пароля при следующем входе в систему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"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7356" y="2285991"/>
            <a:ext cx="3929090" cy="2612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4357694"/>
            <a:ext cx="9137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выйти из рабочей станции как администратор: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4929198"/>
            <a:ext cx="377190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Прямоугольник 17"/>
          <p:cNvSpPr/>
          <p:nvPr/>
        </p:nvSpPr>
        <p:spPr>
          <a:xfrm>
            <a:off x="6109" y="0"/>
            <a:ext cx="91378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выполнить: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Панель управления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Учетные записи пользователей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Изменение входа пользователей в систему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убрать галочку (если стоит) в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Использовать страницу приветствия.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Нажать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Применение параметров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</p:txBody>
      </p:sp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142984"/>
            <a:ext cx="5500726" cy="2788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91378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войти на станцию как созданный пользователь и поменять пароль на новый, послав из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Oracle VM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VirtualBox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Ввод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-&gt;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Клавиатура-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Послать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Ctrl-Alt-Del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214422"/>
            <a:ext cx="26765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rot="10800000" flipV="1">
            <a:off x="2000232" y="857232"/>
            <a:ext cx="2000264" cy="642942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44" y="2357430"/>
            <a:ext cx="4057663" cy="3363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10800000" flipV="1">
            <a:off x="1428728" y="357166"/>
            <a:ext cx="5357850" cy="4643470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0" y="585789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после смены пароля выйти из системы и войти с новым паролем.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"/>
            <a:ext cx="913789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Задание №3.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С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озда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ть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обычного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пользовател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я рабочей станции, который не может поменять пароль.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войти на станцию как созданный администратор;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выполнить действия по созданию обычного пользователя рабочей станции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 свойствах пароля пометить "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Запретить смену пароля пользователем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"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3" y="1500174"/>
            <a:ext cx="3571900" cy="153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378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выйти как администратор;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войти на станцию как созданный пользователь;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попытаться сменить пароль, послав из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Oracle VM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VirtualBox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Ввод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-&gt;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Клавиатура-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Послать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Ctrl-Alt-Del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;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26765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>
            <a:off x="500034" y="1142984"/>
            <a:ext cx="1143008" cy="357190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500306"/>
            <a:ext cx="4057663" cy="3363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2071678"/>
            <a:ext cx="9137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нажать кнопку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Смена пароля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;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6109" y="6000768"/>
            <a:ext cx="9137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убедиться, что смена пароля невозможна.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Задание №4.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Смена пароля администратором рабочей станции. Поменять пароль для пользователя, созданного в п.2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Когда для пользователя установлен запрет смены пароля, то его пароль может поменять только администратор рабочей станции. Использовать оба способа.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Первый способ. В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Управление компьютером 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выбрать пользователя для которого меняется пароль и кликнуть правой кнопкой мыши. В контекстном меню выбрать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Задать пароль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2285992"/>
            <a:ext cx="6086475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прочитать информацию и нажать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Продолжить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38288" y="1295400"/>
            <a:ext cx="606742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33525" y="1290638"/>
            <a:ext cx="6076950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19238" y="1281113"/>
            <a:ext cx="610552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ввести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Новый пароль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и его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Подтверждение,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нажать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ОК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0232" y="928670"/>
            <a:ext cx="2939852" cy="4162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Второй способ. В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Пуск 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кликнуть на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Командная строка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 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3" y="928670"/>
            <a:ext cx="5572164" cy="531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После символа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набрать команду: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net user &lt;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имя пользователя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 &lt;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новый пароль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Например,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net user br1 12345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 Нажать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Enter.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48866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Проверить вход под новым паролем.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1214422"/>
            <a:ext cx="6575622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Задание №5.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Отключение и включение учетной записи пользователя рабочей станции: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отключить учетную запись пользователя (пользователь при этом не удаляется), проверить что вход на станцию для этого пользователя невозможен.</a:t>
            </a:r>
          </a:p>
        </p:txBody>
      </p:sp>
      <p:cxnSp>
        <p:nvCxnSpPr>
          <p:cNvPr id="6" name="Прямая со стрелкой 5"/>
          <p:cNvCxnSpPr/>
          <p:nvPr/>
        </p:nvCxnSpPr>
        <p:spPr>
          <a:xfrm rot="10800000">
            <a:off x="5429256" y="5286388"/>
            <a:ext cx="2928958" cy="1588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включить учетную запись пользователя, проверить что вход на станцию для этого пользователя возможен.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3" y="2895378"/>
            <a:ext cx="5572164" cy="3962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Задание №6.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Удаление учетной записи пользователя: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создать обычного пользователя рабочей станции;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войти от его имени в систему;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выйти из системы;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войти как администратор;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Управлении компьютером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выбрать удаляемого пользователя и кликнуть правой кнопкой;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выбрать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Удалить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и нажать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Да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убедиться, что пользователь удален.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2428892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работа №2-3</a:t>
            </a:r>
            <a:endParaRPr lang="en-US" sz="3600" b="1" dirty="0"/>
          </a:p>
          <a:p>
            <a:pPr algn="ctr">
              <a:buNone/>
            </a:pPr>
            <a:r>
              <a:rPr lang="ru-RU" sz="3600" b="1" dirty="0"/>
              <a:t>"Настройка профиля</a:t>
            </a:r>
            <a:r>
              <a:rPr lang="en-US" sz="3600" b="1" dirty="0"/>
              <a:t> </a:t>
            </a:r>
            <a:r>
              <a:rPr lang="ru-RU" sz="3600" b="1" dirty="0"/>
              <a:t>пользователя"</a:t>
            </a:r>
          </a:p>
          <a:p>
            <a:pPr marL="0" indent="0">
              <a:buNone/>
            </a:pPr>
            <a:endParaRPr lang="ru-RU" sz="20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 algn="ctr">
              <a:spcBef>
                <a:spcPts val="300"/>
              </a:spcBef>
              <a:buNone/>
            </a:pPr>
            <a:r>
              <a:rPr lang="ru-RU" sz="2400" b="1" dirty="0"/>
              <a:t>Настройка профиля</a:t>
            </a:r>
            <a:r>
              <a:rPr lang="en-US" sz="2400" b="1" dirty="0"/>
              <a:t> </a:t>
            </a:r>
            <a:r>
              <a:rPr lang="ru-RU" sz="2400" b="1" dirty="0"/>
              <a:t>пользователя</a:t>
            </a:r>
            <a:endParaRPr lang="ru-RU" sz="2800" b="1" u="sng" dirty="0"/>
          </a:p>
          <a:p>
            <a:pPr marL="0" indent="342900">
              <a:spcBef>
                <a:spcPts val="300"/>
              </a:spcBef>
              <a:buNone/>
            </a:pPr>
            <a:r>
              <a:rPr lang="ru-RU" sz="2800" b="1" u="sng" dirty="0"/>
              <a:t>Цель работы</a:t>
            </a:r>
            <a:r>
              <a:rPr lang="ru-RU" sz="2800" dirty="0"/>
              <a:t> научиться:</a:t>
            </a:r>
          </a:p>
          <a:p>
            <a:pPr marL="0" indent="342900">
              <a:spcBef>
                <a:spcPts val="300"/>
              </a:spcBef>
              <a:buNone/>
            </a:pPr>
            <a:r>
              <a:rPr lang="ru-RU" sz="2800" dirty="0"/>
              <a:t>создавать профиль пользователя и управлять им.</a:t>
            </a:r>
          </a:p>
          <a:p>
            <a:pPr indent="342900">
              <a:spcBef>
                <a:spcPts val="300"/>
              </a:spcBef>
            </a:pPr>
            <a:r>
              <a:rPr lang="ru-RU" sz="2400" b="1" dirty="0">
                <a:cs typeface="Times New Roman" pitchFamily="18" charset="0"/>
              </a:rPr>
              <a:t>Задание</a:t>
            </a:r>
            <a:r>
              <a:rPr lang="en-US" sz="2400" b="1" dirty="0">
                <a:cs typeface="Times New Roman" pitchFamily="18" charset="0"/>
              </a:rPr>
              <a:t> 1</a:t>
            </a:r>
            <a:r>
              <a:rPr lang="ru-RU" sz="2400" b="1" dirty="0">
                <a:cs typeface="Times New Roman" pitchFamily="18" charset="0"/>
              </a:rPr>
              <a:t>.</a:t>
            </a:r>
            <a:r>
              <a:rPr lang="ru-RU" sz="2400" dirty="0">
                <a:cs typeface="Times New Roman" pitchFamily="18" charset="0"/>
              </a:rPr>
              <a:t> Установить на станции </a:t>
            </a:r>
            <a:r>
              <a:rPr lang="en-US" sz="2400" b="1" dirty="0">
                <a:cs typeface="Times New Roman" pitchFamily="18" charset="0"/>
              </a:rPr>
              <a:t>WinXp1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ru-RU" sz="2400" dirty="0">
                <a:cs typeface="Times New Roman" pitchFamily="18" charset="0"/>
              </a:rPr>
              <a:t>тему – </a:t>
            </a:r>
            <a:r>
              <a:rPr lang="ru-RU" sz="2400" b="1" dirty="0">
                <a:cs typeface="Times New Roman" pitchFamily="18" charset="0"/>
              </a:rPr>
              <a:t>Классическая</a:t>
            </a:r>
            <a:r>
              <a:rPr lang="ru-RU" sz="2400" dirty="0">
                <a:cs typeface="Times New Roman" pitchFamily="18" charset="0"/>
              </a:rPr>
              <a:t>.</a:t>
            </a:r>
          </a:p>
          <a:p>
            <a:pPr indent="342900">
              <a:spcBef>
                <a:spcPts val="300"/>
              </a:spcBef>
            </a:pPr>
            <a:r>
              <a:rPr lang="ru-RU" sz="2400" b="1" dirty="0">
                <a:cs typeface="Times New Roman" pitchFamily="18" charset="0"/>
              </a:rPr>
              <a:t>Задание</a:t>
            </a:r>
            <a:r>
              <a:rPr lang="en-US" sz="2400" b="1" dirty="0">
                <a:cs typeface="Times New Roman" pitchFamily="18" charset="0"/>
              </a:rPr>
              <a:t> </a:t>
            </a:r>
            <a:r>
              <a:rPr lang="ru-RU" sz="2400" b="1" dirty="0">
                <a:cs typeface="Times New Roman" pitchFamily="18" charset="0"/>
              </a:rPr>
              <a:t>2. </a:t>
            </a:r>
            <a:r>
              <a:rPr lang="ru-RU" sz="2400" dirty="0">
                <a:cs typeface="Times New Roman" pitchFamily="18" charset="0"/>
              </a:rPr>
              <a:t>Установить на станции </a:t>
            </a:r>
            <a:r>
              <a:rPr lang="en-US" sz="2400" b="1" dirty="0">
                <a:cs typeface="Times New Roman" pitchFamily="18" charset="0"/>
              </a:rPr>
              <a:t>WinXp1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ru-RU" sz="2400" dirty="0">
                <a:cs typeface="Times New Roman" pitchFamily="18" charset="0"/>
              </a:rPr>
              <a:t>"обои рабочего стола" – </a:t>
            </a:r>
            <a:r>
              <a:rPr lang="en-US" sz="2400" b="1" dirty="0" err="1">
                <a:cs typeface="Times New Roman" pitchFamily="18" charset="0"/>
              </a:rPr>
              <a:t>WindowsXP</a:t>
            </a:r>
            <a:r>
              <a:rPr lang="ru-RU" sz="2400" b="1" dirty="0">
                <a:cs typeface="Times New Roman" pitchFamily="18" charset="0"/>
              </a:rPr>
              <a:t> </a:t>
            </a:r>
            <a:r>
              <a:rPr lang="ru-RU" sz="2400" dirty="0">
                <a:cs typeface="Times New Roman" pitchFamily="18" charset="0"/>
              </a:rPr>
              <a:t>и упорядочить ярлыки.</a:t>
            </a:r>
          </a:p>
          <a:p>
            <a:pPr indent="342900">
              <a:spcBef>
                <a:spcPts val="300"/>
              </a:spcBef>
            </a:pPr>
            <a:r>
              <a:rPr lang="ru-RU" sz="2400" b="1" dirty="0">
                <a:cs typeface="Times New Roman" pitchFamily="18" charset="0"/>
              </a:rPr>
              <a:t>Задание</a:t>
            </a:r>
            <a:r>
              <a:rPr lang="en-US" sz="2400" b="1" dirty="0">
                <a:cs typeface="Times New Roman" pitchFamily="18" charset="0"/>
              </a:rPr>
              <a:t> </a:t>
            </a:r>
            <a:r>
              <a:rPr lang="ru-RU" sz="2400" b="1" dirty="0">
                <a:cs typeface="Times New Roman" pitchFamily="18" charset="0"/>
              </a:rPr>
              <a:t>3.</a:t>
            </a:r>
            <a:r>
              <a:rPr lang="ru-RU" sz="2400" dirty="0">
                <a:cs typeface="Times New Roman" pitchFamily="18" charset="0"/>
              </a:rPr>
              <a:t> Установить на станции </a:t>
            </a:r>
            <a:r>
              <a:rPr lang="en-US" sz="2400" b="1" dirty="0">
                <a:cs typeface="Times New Roman" pitchFamily="18" charset="0"/>
              </a:rPr>
              <a:t>WinXp1</a:t>
            </a:r>
            <a:r>
              <a:rPr lang="ru-RU" sz="2400" dirty="0">
                <a:cs typeface="Times New Roman" pitchFamily="18" charset="0"/>
              </a:rPr>
              <a:t> время появления заставки – 1 минута.</a:t>
            </a:r>
            <a:endParaRPr lang="en-US" sz="2400" dirty="0">
              <a:cs typeface="Times New Roman" pitchFamily="18" charset="0"/>
            </a:endParaRPr>
          </a:p>
          <a:p>
            <a:pPr marL="0" indent="342900">
              <a:spcBef>
                <a:spcPts val="300"/>
              </a:spcBef>
              <a:buNone/>
            </a:pPr>
            <a:r>
              <a:rPr lang="ru-RU" sz="2400" b="1" dirty="0">
                <a:cs typeface="Times New Roman" pitchFamily="18" charset="0"/>
              </a:rPr>
              <a:t>Задание</a:t>
            </a:r>
            <a:r>
              <a:rPr lang="en-US" sz="2400" b="1" dirty="0">
                <a:cs typeface="Times New Roman" pitchFamily="18" charset="0"/>
              </a:rPr>
              <a:t> </a:t>
            </a:r>
            <a:r>
              <a:rPr lang="ru-RU" sz="2400" b="1" dirty="0">
                <a:cs typeface="Times New Roman" pitchFamily="18" charset="0"/>
              </a:rPr>
              <a:t>4.</a:t>
            </a:r>
            <a:r>
              <a:rPr lang="ru-RU" sz="2400" dirty="0">
                <a:cs typeface="Times New Roman" pitchFamily="18" charset="0"/>
              </a:rPr>
              <a:t> Положить на рабочий стол всем пользователям станции папку </a:t>
            </a:r>
            <a:r>
              <a:rPr lang="ru-RU" sz="2400" b="1" dirty="0">
                <a:cs typeface="Times New Roman" pitchFamily="18" charset="0"/>
              </a:rPr>
              <a:t>Для всех</a:t>
            </a:r>
            <a:r>
              <a:rPr lang="ru-RU" sz="2400" dirty="0">
                <a:cs typeface="Times New Roman" pitchFamily="18" charset="0"/>
              </a:rPr>
              <a:t>.</a:t>
            </a:r>
          </a:p>
          <a:p>
            <a:pPr marL="0" indent="342900">
              <a:spcBef>
                <a:spcPts val="300"/>
              </a:spcBef>
              <a:buNone/>
            </a:pPr>
            <a:r>
              <a:rPr lang="ru-RU" sz="2400" b="1" dirty="0">
                <a:cs typeface="Times New Roman" pitchFamily="18" charset="0"/>
              </a:rPr>
              <a:t>Задание</a:t>
            </a:r>
            <a:r>
              <a:rPr lang="en-US" sz="2400" b="1" dirty="0">
                <a:cs typeface="Times New Roman" pitchFamily="18" charset="0"/>
              </a:rPr>
              <a:t> </a:t>
            </a:r>
            <a:r>
              <a:rPr lang="ru-RU" sz="2400" b="1" dirty="0">
                <a:cs typeface="Times New Roman" pitchFamily="18" charset="0"/>
              </a:rPr>
              <a:t>5.</a:t>
            </a:r>
            <a:r>
              <a:rPr lang="ru-RU" sz="2400" dirty="0">
                <a:cs typeface="Times New Roman" pitchFamily="18" charset="0"/>
              </a:rPr>
              <a:t> Подключить сетевой диск.</a:t>
            </a:r>
          </a:p>
          <a:p>
            <a:pPr marL="0" indent="342900">
              <a:spcBef>
                <a:spcPts val="300"/>
              </a:spcBef>
              <a:buNone/>
            </a:pPr>
            <a:endParaRPr lang="ru-RU" sz="2800" dirty="0"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>
              <a:spcBef>
                <a:spcPts val="300"/>
              </a:spcBef>
            </a:pPr>
            <a:r>
              <a:rPr lang="ru-RU" sz="2800" b="1" u="sng" dirty="0">
                <a:cs typeface="Times New Roman" pitchFamily="18" charset="0"/>
              </a:rPr>
              <a:t>Задание</a:t>
            </a:r>
            <a:r>
              <a:rPr lang="en-US" sz="2800" b="1" u="sng" dirty="0">
                <a:cs typeface="Times New Roman" pitchFamily="18" charset="0"/>
              </a:rPr>
              <a:t> 1</a:t>
            </a:r>
            <a:r>
              <a:rPr lang="ru-RU" sz="2800" b="1" u="sng" dirty="0">
                <a:cs typeface="Times New Roman" pitchFamily="18" charset="0"/>
              </a:rPr>
              <a:t>.</a:t>
            </a:r>
            <a:r>
              <a:rPr lang="ru-RU" sz="2800" dirty="0">
                <a:cs typeface="Times New Roman" pitchFamily="18" charset="0"/>
              </a:rPr>
              <a:t> Установить на станции </a:t>
            </a:r>
            <a:r>
              <a:rPr lang="en-US" sz="2800" b="1" dirty="0">
                <a:cs typeface="Times New Roman" pitchFamily="18" charset="0"/>
              </a:rPr>
              <a:t>WinXp1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ru-RU" sz="2800" dirty="0">
                <a:cs typeface="Times New Roman" pitchFamily="18" charset="0"/>
              </a:rPr>
              <a:t>тему – </a:t>
            </a:r>
            <a:r>
              <a:rPr lang="ru-RU" sz="2800" b="1" dirty="0">
                <a:cs typeface="Times New Roman" pitchFamily="18" charset="0"/>
              </a:rPr>
              <a:t>Классическая</a:t>
            </a:r>
            <a:r>
              <a:rPr lang="ru-RU" sz="2800" dirty="0">
                <a:cs typeface="Times New Roman" pitchFamily="18" charset="0"/>
              </a:rPr>
              <a:t>.</a:t>
            </a:r>
          </a:p>
          <a:p>
            <a:pPr indent="342900">
              <a:spcBef>
                <a:spcPts val="300"/>
              </a:spcBef>
            </a:pPr>
            <a:r>
              <a:rPr lang="ru-RU" sz="2800" dirty="0">
                <a:cs typeface="Times New Roman" pitchFamily="18" charset="0"/>
              </a:rPr>
              <a:t>Войти на станцию WinXp1 от имени администратора станции.</a:t>
            </a:r>
          </a:p>
          <a:p>
            <a:pPr indent="342900">
              <a:spcBef>
                <a:spcPts val="300"/>
              </a:spcBef>
            </a:pPr>
            <a:r>
              <a:rPr lang="ru-RU" sz="2800" dirty="0">
                <a:cs typeface="Times New Roman" pitchFamily="18" charset="0"/>
              </a:rPr>
              <a:t>Правый клик на </a:t>
            </a:r>
            <a:r>
              <a:rPr lang="ru-RU" sz="2800" b="1" dirty="0">
                <a:cs typeface="Times New Roman" pitchFamily="18" charset="0"/>
              </a:rPr>
              <a:t>Рабочем столе-</a:t>
            </a:r>
            <a:r>
              <a:rPr lang="en-US" sz="2800" b="1" dirty="0">
                <a:cs typeface="Times New Roman" pitchFamily="18" charset="0"/>
              </a:rPr>
              <a:t>&gt;</a:t>
            </a:r>
            <a:r>
              <a:rPr lang="ru-RU" sz="2800" b="1" dirty="0">
                <a:cs typeface="Times New Roman" pitchFamily="18" charset="0"/>
              </a:rPr>
              <a:t>Свойства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19412" y="2420888"/>
            <a:ext cx="330517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>
              <a:spcBef>
                <a:spcPts val="300"/>
              </a:spcBef>
            </a:pPr>
            <a:r>
              <a:rPr lang="ru-RU" sz="2800" b="1" dirty="0">
                <a:cs typeface="Times New Roman" pitchFamily="18" charset="0"/>
              </a:rPr>
              <a:t>Темы-</a:t>
            </a:r>
            <a:r>
              <a:rPr lang="en-US" sz="2800" b="1" dirty="0">
                <a:cs typeface="Times New Roman" pitchFamily="18" charset="0"/>
              </a:rPr>
              <a:t>&gt;</a:t>
            </a:r>
            <a:r>
              <a:rPr lang="ru-RU" sz="2800" b="1" dirty="0">
                <a:cs typeface="Times New Roman" pitchFamily="18" charset="0"/>
              </a:rPr>
              <a:t>Классическая-</a:t>
            </a:r>
            <a:r>
              <a:rPr lang="en-US" sz="2800" b="1" dirty="0">
                <a:cs typeface="Times New Roman" pitchFamily="18" charset="0"/>
              </a:rPr>
              <a:t>&gt;</a:t>
            </a:r>
            <a:r>
              <a:rPr lang="ru-RU" sz="2800" b="1" dirty="0">
                <a:cs typeface="Times New Roman" pitchFamily="18" charset="0"/>
              </a:rPr>
              <a:t>ОК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1142984"/>
            <a:ext cx="4133850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2285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>
              <a:spcBef>
                <a:spcPts val="300"/>
              </a:spcBef>
            </a:pPr>
            <a:r>
              <a:rPr lang="ru-RU" sz="2800" b="1" u="sng" dirty="0">
                <a:cs typeface="Times New Roman" pitchFamily="18" charset="0"/>
              </a:rPr>
              <a:t>Задание</a:t>
            </a:r>
            <a:r>
              <a:rPr lang="en-US" sz="2800" b="1" u="sng" dirty="0">
                <a:cs typeface="Times New Roman" pitchFamily="18" charset="0"/>
              </a:rPr>
              <a:t> </a:t>
            </a:r>
            <a:r>
              <a:rPr lang="ru-RU" sz="2800" b="1" u="sng" dirty="0">
                <a:cs typeface="Times New Roman" pitchFamily="18" charset="0"/>
              </a:rPr>
              <a:t>2. </a:t>
            </a:r>
            <a:r>
              <a:rPr lang="ru-RU" sz="2800" dirty="0">
                <a:cs typeface="Times New Roman" pitchFamily="18" charset="0"/>
              </a:rPr>
              <a:t>Установить на станции </a:t>
            </a:r>
            <a:r>
              <a:rPr lang="en-US" sz="2800" b="1" dirty="0">
                <a:cs typeface="Times New Roman" pitchFamily="18" charset="0"/>
              </a:rPr>
              <a:t>WinXp1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ru-RU" sz="2800" dirty="0">
                <a:cs typeface="Times New Roman" pitchFamily="18" charset="0"/>
              </a:rPr>
              <a:t>"обои рабочего стола" – </a:t>
            </a:r>
            <a:r>
              <a:rPr lang="en-US" sz="2800" b="1" dirty="0" err="1">
                <a:cs typeface="Times New Roman" pitchFamily="18" charset="0"/>
              </a:rPr>
              <a:t>WindowsXP</a:t>
            </a:r>
            <a:r>
              <a:rPr lang="ru-RU" sz="2800" b="1" dirty="0">
                <a:cs typeface="Times New Roman" pitchFamily="18" charset="0"/>
              </a:rPr>
              <a:t>  </a:t>
            </a:r>
            <a:r>
              <a:rPr lang="ru-RU" sz="2800" dirty="0">
                <a:cs typeface="Times New Roman" pitchFamily="18" charset="0"/>
              </a:rPr>
              <a:t>и упорядочить ярлыки.</a:t>
            </a:r>
          </a:p>
          <a:p>
            <a:pPr indent="342900">
              <a:spcBef>
                <a:spcPts val="300"/>
              </a:spcBef>
            </a:pPr>
            <a:r>
              <a:rPr lang="ru-RU" sz="2800" dirty="0">
                <a:cs typeface="Times New Roman" pitchFamily="18" charset="0"/>
              </a:rPr>
              <a:t>Правый клик на </a:t>
            </a:r>
            <a:r>
              <a:rPr lang="ru-RU" sz="2800" b="1" dirty="0">
                <a:cs typeface="Times New Roman" pitchFamily="18" charset="0"/>
              </a:rPr>
              <a:t>Рабочем столе-</a:t>
            </a:r>
            <a:r>
              <a:rPr lang="en-US" sz="2800" b="1" dirty="0">
                <a:cs typeface="Times New Roman" pitchFamily="18" charset="0"/>
              </a:rPr>
              <a:t>&gt;</a:t>
            </a:r>
            <a:r>
              <a:rPr lang="ru-RU" sz="2800" b="1" dirty="0">
                <a:cs typeface="Times New Roman" pitchFamily="18" charset="0"/>
              </a:rPr>
              <a:t>Свойства-</a:t>
            </a:r>
            <a:r>
              <a:rPr lang="en-US" sz="2800" b="1" dirty="0">
                <a:cs typeface="Times New Roman" pitchFamily="18" charset="0"/>
              </a:rPr>
              <a:t>&gt;</a:t>
            </a:r>
            <a:r>
              <a:rPr lang="ru-RU" sz="2800" b="1" dirty="0">
                <a:cs typeface="Times New Roman" pitchFamily="18" charset="0"/>
              </a:rPr>
              <a:t>Рабочий стол-</a:t>
            </a:r>
            <a:r>
              <a:rPr lang="en-US" sz="2800" b="1" dirty="0">
                <a:cs typeface="Times New Roman" pitchFamily="18" charset="0"/>
              </a:rPr>
              <a:t>&gt;</a:t>
            </a:r>
            <a:r>
              <a:rPr lang="en-US" sz="2800" b="1" dirty="0" err="1">
                <a:cs typeface="Times New Roman" pitchFamily="18" charset="0"/>
              </a:rPr>
              <a:t>WindowsXP</a:t>
            </a:r>
            <a:r>
              <a:rPr lang="ru-RU" sz="2800" b="1" dirty="0">
                <a:cs typeface="Times New Roman" pitchFamily="18" charset="0"/>
              </a:rPr>
              <a:t>-</a:t>
            </a:r>
            <a:r>
              <a:rPr lang="en-US" sz="2800" b="1" dirty="0">
                <a:cs typeface="Times New Roman" pitchFamily="18" charset="0"/>
              </a:rPr>
              <a:t>&gt;</a:t>
            </a:r>
            <a:r>
              <a:rPr lang="ru-RU" sz="2800" b="1" dirty="0">
                <a:cs typeface="Times New Roman" pitchFamily="18" charset="0"/>
              </a:rPr>
              <a:t>ОК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2214554"/>
            <a:ext cx="419100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>
              <a:spcBef>
                <a:spcPts val="300"/>
              </a:spcBef>
            </a:pPr>
            <a:r>
              <a:rPr lang="ru-RU" sz="2800" dirty="0">
                <a:cs typeface="Times New Roman" pitchFamily="18" charset="0"/>
              </a:rPr>
              <a:t>Правый клик на </a:t>
            </a:r>
            <a:r>
              <a:rPr lang="ru-RU" sz="2800" b="1" dirty="0">
                <a:cs typeface="Times New Roman" pitchFamily="18" charset="0"/>
              </a:rPr>
              <a:t>Рабочем столе-</a:t>
            </a:r>
            <a:r>
              <a:rPr lang="en-US" sz="2800" b="1" dirty="0">
                <a:cs typeface="Times New Roman" pitchFamily="18" charset="0"/>
              </a:rPr>
              <a:t>&gt;</a:t>
            </a:r>
            <a:r>
              <a:rPr lang="ru-RU" sz="2800" b="1" dirty="0">
                <a:cs typeface="Times New Roman" pitchFamily="18" charset="0"/>
              </a:rPr>
              <a:t>Упорядочить значки-</a:t>
            </a:r>
            <a:r>
              <a:rPr lang="en-US" sz="2800" b="1" dirty="0">
                <a:cs typeface="Times New Roman" pitchFamily="18" charset="0"/>
              </a:rPr>
              <a:t>&gt;</a:t>
            </a:r>
            <a:r>
              <a:rPr lang="ru-RU" sz="2800" b="1" dirty="0">
                <a:cs typeface="Times New Roman" pitchFamily="18" charset="0"/>
              </a:rPr>
              <a:t>Имя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5" y="1966592"/>
            <a:ext cx="4357718" cy="2495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1928802"/>
            <a:ext cx="3424236" cy="3146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1857356" y="1357298"/>
            <a:ext cx="5950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cs typeface="Times New Roman" pitchFamily="18" charset="0"/>
              </a:rPr>
              <a:t>до</a:t>
            </a:r>
            <a:endParaRPr 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500826" y="1357298"/>
            <a:ext cx="11689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cs typeface="Times New Roman" pitchFamily="18" charset="0"/>
              </a:rPr>
              <a:t>после</a:t>
            </a:r>
            <a:endParaRPr lang="ru-RU" sz="2800" dirty="0"/>
          </a:p>
        </p:txBody>
      </p:sp>
      <p:cxnSp>
        <p:nvCxnSpPr>
          <p:cNvPr id="9" name="Прямая со стрелкой 8"/>
          <p:cNvCxnSpPr/>
          <p:nvPr/>
        </p:nvCxnSpPr>
        <p:spPr>
          <a:xfrm rot="16200000" flipH="1">
            <a:off x="2107389" y="1964521"/>
            <a:ext cx="2214578" cy="185738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7" idx="2"/>
          </p:cNvCxnSpPr>
          <p:nvPr/>
        </p:nvCxnSpPr>
        <p:spPr>
          <a:xfrm rot="5400000">
            <a:off x="6018813" y="1505276"/>
            <a:ext cx="691226" cy="144171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>
              <a:spcBef>
                <a:spcPts val="300"/>
              </a:spcBef>
            </a:pPr>
            <a:r>
              <a:rPr lang="ru-RU" sz="2800" b="1" u="sng" dirty="0">
                <a:cs typeface="Times New Roman" pitchFamily="18" charset="0"/>
              </a:rPr>
              <a:t>Задание</a:t>
            </a:r>
            <a:r>
              <a:rPr lang="en-US" sz="2800" b="1" u="sng" dirty="0">
                <a:cs typeface="Times New Roman" pitchFamily="18" charset="0"/>
              </a:rPr>
              <a:t> </a:t>
            </a:r>
            <a:r>
              <a:rPr lang="ru-RU" sz="2800" b="1" u="sng" dirty="0">
                <a:cs typeface="Times New Roman" pitchFamily="18" charset="0"/>
              </a:rPr>
              <a:t>3.</a:t>
            </a:r>
            <a:r>
              <a:rPr lang="ru-RU" sz="2800" dirty="0">
                <a:cs typeface="Times New Roman" pitchFamily="18" charset="0"/>
              </a:rPr>
              <a:t> Установить на станции </a:t>
            </a:r>
            <a:r>
              <a:rPr lang="en-US" sz="2800" b="1" dirty="0">
                <a:cs typeface="Times New Roman" pitchFamily="18" charset="0"/>
              </a:rPr>
              <a:t>WinXp1</a:t>
            </a:r>
            <a:r>
              <a:rPr lang="ru-RU" sz="2800" dirty="0">
                <a:cs typeface="Times New Roman" pitchFamily="18" charset="0"/>
              </a:rPr>
              <a:t> время появления заставки – 1 минута и проверить.</a:t>
            </a:r>
            <a:endParaRPr lang="en-US" sz="2800" dirty="0"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57388" y="1162050"/>
            <a:ext cx="5229225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5400000">
            <a:off x="2214546" y="1785926"/>
            <a:ext cx="3071834" cy="121444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3147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b="1" u="sng" dirty="0">
                <a:cs typeface="Times New Roman" pitchFamily="18" charset="0"/>
              </a:rPr>
              <a:t>Задание</a:t>
            </a:r>
            <a:r>
              <a:rPr lang="en-US" sz="2800" b="1" u="sng" dirty="0">
                <a:cs typeface="Times New Roman" pitchFamily="18" charset="0"/>
              </a:rPr>
              <a:t> </a:t>
            </a:r>
            <a:r>
              <a:rPr lang="ru-RU" sz="2800" b="1" u="sng" dirty="0">
                <a:cs typeface="Times New Roman" pitchFamily="18" charset="0"/>
              </a:rPr>
              <a:t>4.</a:t>
            </a:r>
            <a:r>
              <a:rPr lang="ru-RU" sz="2800" dirty="0">
                <a:cs typeface="Times New Roman" pitchFamily="18" charset="0"/>
              </a:rPr>
              <a:t> Положить на рабочий стол всем пользователям станции ярлык </a:t>
            </a:r>
            <a:r>
              <a:rPr lang="ru-RU" sz="2800" b="1" dirty="0">
                <a:cs typeface="Times New Roman" pitchFamily="18" charset="0"/>
              </a:rPr>
              <a:t>Для всех </a:t>
            </a:r>
            <a:r>
              <a:rPr lang="ru-RU" sz="2800" dirty="0">
                <a:cs typeface="Times New Roman" pitchFamily="18" charset="0"/>
              </a:rPr>
              <a:t>(так можно обеспечивать пользователей нужными для всех установленными приложениями).</a:t>
            </a:r>
          </a:p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Создать ярлык </a:t>
            </a:r>
            <a:r>
              <a:rPr lang="ru-RU" sz="2800" b="1" dirty="0">
                <a:cs typeface="Times New Roman" pitchFamily="18" charset="0"/>
              </a:rPr>
              <a:t>Для всех</a:t>
            </a:r>
            <a:r>
              <a:rPr lang="ru-RU" sz="2800" dirty="0">
                <a:cs typeface="Times New Roman" pitchFamily="18" charset="0"/>
              </a:rPr>
              <a:t> в корне диска </a:t>
            </a:r>
            <a:r>
              <a:rPr lang="ru-RU" sz="2800" b="1" dirty="0">
                <a:cs typeface="Times New Roman" pitchFamily="18" charset="0"/>
              </a:rPr>
              <a:t>С: </a:t>
            </a:r>
            <a:r>
              <a:rPr lang="ru-RU" sz="2800" dirty="0">
                <a:cs typeface="Times New Roman" pitchFamily="18" charset="0"/>
              </a:rPr>
              <a:t>(для установленных приложений ярлык берется из папки для этого приложения).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1731" y="3356992"/>
            <a:ext cx="5876925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>
            <a:off x="3635896" y="2204864"/>
            <a:ext cx="2808312" cy="36004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Положить на рабочий стол всем пользователям станции ярлык </a:t>
            </a:r>
            <a:r>
              <a:rPr lang="ru-RU" sz="2800" b="1" dirty="0">
                <a:cs typeface="Times New Roman" pitchFamily="18" charset="0"/>
              </a:rPr>
              <a:t>Для всех</a:t>
            </a:r>
            <a:r>
              <a:rPr lang="ru-RU" sz="2800" dirty="0">
                <a:cs typeface="Times New Roman" pitchFamily="18" charset="0"/>
              </a:rPr>
              <a:t>. Для этого скопировать ярлык и вставить его в папку </a:t>
            </a:r>
            <a:r>
              <a:rPr lang="en-US" sz="2800" dirty="0">
                <a:cs typeface="Times New Roman" pitchFamily="18" charset="0"/>
              </a:rPr>
              <a:t>C:\Documents and Settings\All Users\</a:t>
            </a:r>
            <a:r>
              <a:rPr lang="ru-RU" sz="2800" dirty="0">
                <a:cs typeface="Times New Roman" pitchFamily="18" charset="0"/>
              </a:rPr>
              <a:t>Рабочий стол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8757" y="2204864"/>
            <a:ext cx="436245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>
            <a:off x="3750464" y="857232"/>
            <a:ext cx="821536" cy="242775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1115616" y="1772816"/>
            <a:ext cx="1584176" cy="115212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Выйти из рабочей станции как администратор и зайти как обычный пользователь. На рабочем столе этого пользователя должен быть ярлык </a:t>
            </a:r>
            <a:r>
              <a:rPr lang="ru-RU" sz="2800" b="1" dirty="0">
                <a:cs typeface="Times New Roman" pitchFamily="18" charset="0"/>
              </a:rPr>
              <a:t>Для всех</a:t>
            </a:r>
            <a:r>
              <a:rPr lang="ru-RU" sz="2800" dirty="0">
                <a:cs typeface="Times New Roman" pitchFamily="18" charset="0"/>
              </a:rPr>
              <a:t>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1812" y="2132856"/>
            <a:ext cx="3000375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3707904" y="1340768"/>
            <a:ext cx="3312368" cy="158417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Положить на рабочий стол всем пользователям станции папку </a:t>
            </a:r>
            <a:r>
              <a:rPr lang="ru-RU" sz="2800" b="1" dirty="0">
                <a:cs typeface="Times New Roman" pitchFamily="18" charset="0"/>
              </a:rPr>
              <a:t>Для всех</a:t>
            </a:r>
            <a:r>
              <a:rPr lang="ru-RU" sz="2800" dirty="0">
                <a:cs typeface="Times New Roman" pitchFamily="18" charset="0"/>
              </a:rPr>
              <a:t>. Все действия по созданию и проверке выполняются аналогично ярлыку </a:t>
            </a:r>
            <a:r>
              <a:rPr lang="ru-RU" sz="2800" b="1" dirty="0">
                <a:cs typeface="Times New Roman" pitchFamily="18" charset="0"/>
              </a:rPr>
              <a:t>Для всех</a:t>
            </a:r>
            <a:r>
              <a:rPr lang="ru-RU" sz="2800" dirty="0">
                <a:cs typeface="Times New Roman" pitchFamily="18" charset="0"/>
              </a:rPr>
              <a:t>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5656" y="1628800"/>
            <a:ext cx="6010275" cy="484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4211960" y="1268760"/>
            <a:ext cx="3308648" cy="410445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854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b="1" u="sng" dirty="0">
                <a:cs typeface="Times New Roman" pitchFamily="18" charset="0"/>
              </a:rPr>
              <a:t>Задание</a:t>
            </a:r>
            <a:r>
              <a:rPr lang="en-US" sz="2800" b="1" u="sng" dirty="0">
                <a:cs typeface="Times New Roman" pitchFamily="18" charset="0"/>
              </a:rPr>
              <a:t> </a:t>
            </a:r>
            <a:r>
              <a:rPr lang="ru-RU" sz="2800" b="1" u="sng" dirty="0">
                <a:cs typeface="Times New Roman" pitchFamily="18" charset="0"/>
              </a:rPr>
              <a:t>5.</a:t>
            </a:r>
            <a:r>
              <a:rPr lang="ru-RU" sz="2800" dirty="0">
                <a:cs typeface="Times New Roman" pitchFamily="18" charset="0"/>
              </a:rPr>
              <a:t> Подключить сетевой диск.</a:t>
            </a:r>
          </a:p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Войти на станцию </a:t>
            </a:r>
            <a:r>
              <a:rPr lang="en-US" sz="2800" b="1" dirty="0">
                <a:cs typeface="Times New Roman" pitchFamily="18" charset="0"/>
              </a:rPr>
              <a:t>WinXp1</a:t>
            </a:r>
            <a:r>
              <a:rPr lang="ru-RU" sz="2800" b="1" dirty="0">
                <a:cs typeface="Times New Roman" pitchFamily="18" charset="0"/>
              </a:rPr>
              <a:t> </a:t>
            </a:r>
            <a:r>
              <a:rPr lang="ru-RU" sz="2800" dirty="0">
                <a:cs typeface="Times New Roman" pitchFamily="18" charset="0"/>
              </a:rPr>
              <a:t>от имени администратора. Создать в корне диска </a:t>
            </a:r>
            <a:r>
              <a:rPr lang="ru-RU" sz="2800" b="1" dirty="0">
                <a:cs typeface="Times New Roman" pitchFamily="18" charset="0"/>
              </a:rPr>
              <a:t>С:</a:t>
            </a:r>
            <a:r>
              <a:rPr lang="ru-RU" sz="2800" dirty="0">
                <a:cs typeface="Times New Roman" pitchFamily="18" charset="0"/>
              </a:rPr>
              <a:t> папку </a:t>
            </a:r>
            <a:r>
              <a:rPr lang="ru-RU" sz="2800" b="1" dirty="0">
                <a:cs typeface="Times New Roman" pitchFamily="18" charset="0"/>
              </a:rPr>
              <a:t>Диск</a:t>
            </a:r>
            <a:r>
              <a:rPr lang="ru-RU" sz="2800" dirty="0">
                <a:cs typeface="Times New Roman" pitchFamily="18" charset="0"/>
              </a:rPr>
              <a:t>.</a:t>
            </a:r>
            <a:endParaRPr lang="ru-RU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08920"/>
            <a:ext cx="6276975" cy="321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683568" y="1772816"/>
            <a:ext cx="5040560" cy="316835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73523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Сделать для неё беспарольный доступ по сети.</a:t>
            </a:r>
            <a:endParaRPr lang="ru-RU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4"/>
            <a:ext cx="6124575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5741243" y="495042"/>
            <a:ext cx="720080" cy="322199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40778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423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Выполнить вход на </a:t>
            </a:r>
            <a:r>
              <a:rPr lang="en-US" sz="2800" b="1" dirty="0" err="1">
                <a:cs typeface="Times New Roman" pitchFamily="18" charset="0"/>
              </a:rPr>
              <a:t>WinXp</a:t>
            </a:r>
            <a:r>
              <a:rPr lang="ru-RU" sz="2800" b="1" dirty="0">
                <a:cs typeface="Times New Roman" pitchFamily="18" charset="0"/>
              </a:rPr>
              <a:t>1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ru-RU" sz="2800" dirty="0">
                <a:cs typeface="Times New Roman" pitchFamily="18" charset="0"/>
              </a:rPr>
              <a:t>от имени обычного пользователя.</a:t>
            </a:r>
          </a:p>
          <a:p>
            <a:pPr marL="0" indent="342900">
              <a:spcBef>
                <a:spcPts val="300"/>
              </a:spcBef>
              <a:buNone/>
            </a:pPr>
            <a:r>
              <a:rPr lang="ru-RU" sz="2800" b="1" dirty="0">
                <a:cs typeface="Times New Roman" pitchFamily="18" charset="0"/>
              </a:rPr>
              <a:t>Пуск-</a:t>
            </a:r>
            <a:r>
              <a:rPr lang="en-US" sz="2800" b="1" dirty="0">
                <a:cs typeface="Times New Roman" pitchFamily="18" charset="0"/>
              </a:rPr>
              <a:t>&gt;</a:t>
            </a:r>
            <a:r>
              <a:rPr lang="ru-RU" sz="2800" b="1" dirty="0">
                <a:cs typeface="Times New Roman" pitchFamily="18" charset="0"/>
              </a:rPr>
              <a:t>Мой компьютер </a:t>
            </a:r>
            <a:r>
              <a:rPr lang="ru-RU" sz="2800" dirty="0">
                <a:cs typeface="Times New Roman" pitchFamily="18" charset="0"/>
              </a:rPr>
              <a:t>(правый клик)</a:t>
            </a:r>
            <a:endParaRPr lang="ru-RU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3" y="1557338"/>
            <a:ext cx="46767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5741243" y="495042"/>
            <a:ext cx="720080" cy="343801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29793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Нажать </a:t>
            </a:r>
            <a:r>
              <a:rPr lang="ru-RU" sz="2800" b="1" dirty="0">
                <a:cs typeface="Times New Roman" pitchFamily="18" charset="0"/>
              </a:rPr>
              <a:t>Обзор</a:t>
            </a:r>
            <a:r>
              <a:rPr lang="ru-RU" sz="2800" dirty="0">
                <a:cs typeface="Times New Roman" pitchFamily="18" charset="0"/>
              </a:rPr>
              <a:t>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1462088"/>
            <a:ext cx="5133975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2555776" y="404664"/>
            <a:ext cx="3888432" cy="280831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340341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Открыть свою рабочую группу.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1481138"/>
            <a:ext cx="4648200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2555776" y="404664"/>
            <a:ext cx="1800200" cy="259228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347047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Рабочая группа.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175" y="1476375"/>
            <a:ext cx="4819650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2555776" y="404664"/>
            <a:ext cx="2592288" cy="280831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41365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Открыть </a:t>
            </a:r>
            <a:r>
              <a:rPr lang="en-US" sz="2800" dirty="0">
                <a:cs typeface="Times New Roman" pitchFamily="18" charset="0"/>
              </a:rPr>
              <a:t>WinXp1</a:t>
            </a:r>
            <a:r>
              <a:rPr lang="ru-RU" sz="2800" dirty="0">
                <a:cs typeface="Times New Roman" pitchFamily="18" charset="0"/>
              </a:rPr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038" y="1438275"/>
            <a:ext cx="3971925" cy="398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2555776" y="404664"/>
            <a:ext cx="2304256" cy="288032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23167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Выбрать </a:t>
            </a:r>
            <a:r>
              <a:rPr lang="ru-RU" sz="2800" b="1" dirty="0">
                <a:cs typeface="Times New Roman" pitchFamily="18" charset="0"/>
              </a:rPr>
              <a:t>Диск-</a:t>
            </a:r>
            <a:r>
              <a:rPr lang="en-US" sz="2800" b="1" dirty="0">
                <a:cs typeface="Times New Roman" pitchFamily="18" charset="0"/>
              </a:rPr>
              <a:t>&gt;OK</a:t>
            </a:r>
            <a:r>
              <a:rPr lang="ru-RU" sz="2800" dirty="0">
                <a:cs typeface="Times New Roman" pitchFamily="18" charset="0"/>
              </a:rPr>
              <a:t>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72208"/>
            <a:ext cx="42672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2555776" y="404664"/>
            <a:ext cx="216024" cy="316835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81" y="1779290"/>
            <a:ext cx="4391025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Прямая со стрелкой 8"/>
          <p:cNvCxnSpPr/>
          <p:nvPr/>
        </p:nvCxnSpPr>
        <p:spPr>
          <a:xfrm>
            <a:off x="3347864" y="404664"/>
            <a:ext cx="3456384" cy="266429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29123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Нажать </a:t>
            </a:r>
            <a:r>
              <a:rPr lang="ru-RU" sz="2800" b="1" dirty="0">
                <a:cs typeface="Times New Roman" pitchFamily="18" charset="0"/>
              </a:rPr>
              <a:t>Готово</a:t>
            </a:r>
            <a:r>
              <a:rPr lang="ru-RU" sz="2800" dirty="0">
                <a:cs typeface="Times New Roman" pitchFamily="18" charset="0"/>
              </a:rPr>
              <a:t>. Должен быть виден сетевой диск </a:t>
            </a:r>
            <a:r>
              <a:rPr lang="en-US" sz="2800" b="1" dirty="0">
                <a:cs typeface="Times New Roman" pitchFamily="18" charset="0"/>
              </a:rPr>
              <a:t>Z:</a:t>
            </a:r>
            <a:endParaRPr lang="ru-RU" sz="2800" b="1" dirty="0"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338" y="2276475"/>
            <a:ext cx="2981325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467544" y="954107"/>
            <a:ext cx="3384376" cy="305095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463421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Открыть диск и создать папку.</a:t>
            </a:r>
            <a:endParaRPr lang="ru-RU" sz="2800" b="1" dirty="0"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2219325"/>
            <a:ext cx="410527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>
            <a:off x="4716016" y="523220"/>
            <a:ext cx="864096" cy="333782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34582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361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На станции </a:t>
            </a:r>
            <a:r>
              <a:rPr lang="en-US" sz="2800" b="1" dirty="0">
                <a:cs typeface="Times New Roman" pitchFamily="18" charset="0"/>
              </a:rPr>
              <a:t>WinXp1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ru-RU" sz="2800" dirty="0">
                <a:cs typeface="Times New Roman" pitchFamily="18" charset="0"/>
              </a:rPr>
              <a:t>проверить в папке </a:t>
            </a:r>
            <a:r>
              <a:rPr lang="ru-RU" sz="2800" b="1" dirty="0">
                <a:cs typeface="Times New Roman" pitchFamily="18" charset="0"/>
              </a:rPr>
              <a:t>Диск</a:t>
            </a:r>
            <a:r>
              <a:rPr lang="ru-RU" sz="2800" dirty="0">
                <a:cs typeface="Times New Roman" pitchFamily="18" charset="0"/>
              </a:rPr>
              <a:t> наличие созданной папки.</a:t>
            </a:r>
          </a:p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Войти на станцию </a:t>
            </a:r>
            <a:r>
              <a:rPr lang="en-US" sz="2800" b="1" dirty="0" err="1">
                <a:cs typeface="Times New Roman" pitchFamily="18" charset="0"/>
              </a:rPr>
              <a:t>WinXp</a:t>
            </a:r>
            <a:r>
              <a:rPr lang="ru-RU" sz="2800" b="1" dirty="0">
                <a:cs typeface="Times New Roman" pitchFamily="18" charset="0"/>
              </a:rPr>
              <a:t>1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ru-RU" sz="2800" dirty="0">
                <a:cs typeface="Times New Roman" pitchFamily="18" charset="0"/>
              </a:rPr>
              <a:t>от имени другого пользователя. Убедиться, что выполненных настроек нет (рабочий стол, диск).</a:t>
            </a:r>
          </a:p>
          <a:p>
            <a:pPr marL="0" indent="342900">
              <a:spcBef>
                <a:spcPts val="300"/>
              </a:spcBef>
              <a:buNone/>
            </a:pPr>
            <a:r>
              <a:rPr lang="ru-RU" sz="2800" dirty="0">
                <a:cs typeface="Times New Roman" pitchFamily="18" charset="0"/>
              </a:rPr>
              <a:t>Выйти из </a:t>
            </a:r>
            <a:r>
              <a:rPr lang="en-US" sz="2800" b="1" dirty="0" err="1">
                <a:cs typeface="Times New Roman" pitchFamily="18" charset="0"/>
              </a:rPr>
              <a:t>WinXp</a:t>
            </a:r>
            <a:r>
              <a:rPr lang="ru-RU" sz="2800" b="1" dirty="0">
                <a:cs typeface="Times New Roman" pitchFamily="18" charset="0"/>
              </a:rPr>
              <a:t>1</a:t>
            </a:r>
            <a:r>
              <a:rPr lang="ru-RU" sz="2800" dirty="0">
                <a:cs typeface="Times New Roman" pitchFamily="18" charset="0"/>
              </a:rPr>
              <a:t> и зайти от имени пользователя для которого создавался профиль. Убедиться в наличии выполненных настроек.</a:t>
            </a:r>
          </a:p>
        </p:txBody>
      </p:sp>
    </p:spTree>
    <p:extLst>
      <p:ext uri="{BB962C8B-B14F-4D97-AF65-F5344CB8AC3E}">
        <p14:creationId xmlns:p14="http://schemas.microsoft.com/office/powerpoint/2010/main" val="1411433016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2428892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/>
              <a:t>Лабораторная работа №2-1</a:t>
            </a:r>
            <a:endParaRPr lang="en-US" sz="3600" b="1" dirty="0"/>
          </a:p>
          <a:p>
            <a:pPr algn="ctr">
              <a:buNone/>
            </a:pPr>
            <a:r>
              <a:rPr lang="ru-RU" sz="3600" b="1" dirty="0"/>
              <a:t>"Настройка безопасного доступа к файлам и папкам при интерактивном входе на рабочую станцию"</a:t>
            </a:r>
          </a:p>
          <a:p>
            <a:pPr marL="0" indent="0">
              <a:buNone/>
            </a:pPr>
            <a:endParaRPr lang="ru-RU" sz="2000" b="1" dirty="0"/>
          </a:p>
          <a:p>
            <a:pPr marL="0" indent="0" algn="ctr">
              <a:buNone/>
            </a:pPr>
            <a:endParaRPr lang="ru-RU" sz="3600" b="1" dirty="0"/>
          </a:p>
          <a:p>
            <a:pPr marL="0" indent="0">
              <a:buNone/>
            </a:pPr>
            <a:endParaRPr lang="ru-RU" sz="3600" kern="1200" dirty="0"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6678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Настройка безопасного доступа к файлам и папкам при интерактивном входе на рабочую станцию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sz="2800" b="1" u="sng" dirty="0">
              <a:solidFill>
                <a:srgbClr val="000000"/>
              </a:solidFill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Цель работы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Научится настраивать безопасный доступ к файлам и папкам при интерактивном входе на рабочую станцию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.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Задание.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 Сделать на рабочей станции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WinXp1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 две папки.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Одна папка должна быть доступна пользователю рабочей станции, не имеющему административных прав, только для операции </a:t>
            </a:r>
            <a:r>
              <a:rPr kumimoji="0" lang="ru-RU" sz="28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чтения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, а другая как для </a:t>
            </a:r>
            <a:r>
              <a:rPr kumimoji="0" lang="ru-RU" sz="28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чтения, так и для записи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.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Но обе папки должны быть доступны, как для чтения, так и для записи всем администраторам рабочей станции.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08292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Для этого выполнить вход на рабочую станцию от имени локального администратора станции.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а) сделать на локальном диске "С:" две папки, "Чтение", и "</a:t>
            </a:r>
            <a:r>
              <a:rPr kumimoji="0" lang="ru-R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Чт-зап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".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Из названий папок следует, какие операции с ними будут разрешены.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2928934"/>
            <a:ext cx="5357849" cy="3774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0007469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б)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Пуск-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&gt;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Мой компьютер-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&gt;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Сервис-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&gt;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Свойства папки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43075" y="1538288"/>
            <a:ext cx="56578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 flipV="1">
            <a:off x="4857752" y="571480"/>
            <a:ext cx="2643206" cy="2071702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10898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б) на вкладке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Вид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убрать галку в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Использовать простой общий доступ к файлам (рекомендуется)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и нажать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ОК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60" y="2071678"/>
            <a:ext cx="394335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5400000">
            <a:off x="2786050" y="1142984"/>
            <a:ext cx="3143272" cy="2000264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140798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в) Установить права только на </a:t>
            </a:r>
            <a:r>
              <a:rPr kumimoji="0" lang="ru-RU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Чтение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 для папки "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Чтение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" пользователям рабочей станции. Правый клик мыши на папке - открываем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Свойства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 папки:</a:t>
            </a:r>
            <a:endParaRPr kumimoji="0" lang="ru-RU" sz="2800" b="0" i="1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8" y="2285992"/>
            <a:ext cx="55721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5400000">
            <a:off x="3692874" y="2450738"/>
            <a:ext cx="3615641" cy="1285884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337022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1857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Перейти на вкладку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Безопасность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. Видно, что пользователи рабочей станции могут делать в ней: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Чтение и выполнение, Список содержимого папки, Чтение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1857364"/>
            <a:ext cx="3629025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5400000">
            <a:off x="3500430" y="1000108"/>
            <a:ext cx="1857388" cy="571504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rot="16200000" flipH="1">
            <a:off x="1571604" y="1643050"/>
            <a:ext cx="3643338" cy="2928958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337610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7013" y="1176338"/>
            <a:ext cx="3609975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Нужно оставить только: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Список содержимого папки, Чтение.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Нажать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Дополнительно.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 rot="16200000" flipH="1">
            <a:off x="3500430" y="2714620"/>
            <a:ext cx="3929090" cy="214314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096195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Убрать галку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Наследовать от родительского объекта…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71675" y="1195388"/>
            <a:ext cx="52006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Прямая со стрелкой 3"/>
          <p:cNvCxnSpPr/>
          <p:nvPr/>
        </p:nvCxnSpPr>
        <p:spPr>
          <a:xfrm rot="5400000">
            <a:off x="785786" y="1857364"/>
            <a:ext cx="3857652" cy="1000132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426106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Выполнить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Копировать,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затем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ОК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47913" y="2147888"/>
            <a:ext cx="44481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Прямая со стрелкой 3"/>
          <p:cNvCxnSpPr/>
          <p:nvPr/>
        </p:nvCxnSpPr>
        <p:spPr>
          <a:xfrm rot="16200000" flipH="1">
            <a:off x="1535885" y="2107397"/>
            <a:ext cx="3786214" cy="428628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448417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Должны получить: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142984"/>
            <a:ext cx="3609975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6200000" flipH="1">
            <a:off x="35687" y="1607331"/>
            <a:ext cx="3714776" cy="1357322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351213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Убрать галку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Чтение и выполнение-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&gt;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ОК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142984"/>
            <a:ext cx="3609975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6200000" flipH="1">
            <a:off x="178563" y="1535893"/>
            <a:ext cx="3500462" cy="1428760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00562" y="1214422"/>
            <a:ext cx="3581400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5400000">
            <a:off x="5357818" y="2071678"/>
            <a:ext cx="3643338" cy="357190"/>
          </a:xfrm>
          <a:prstGeom prst="straightConnector1">
            <a:avLst/>
          </a:prstGeom>
          <a:ln w="2222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708470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Скопировать в эту папку исполняемый файл и текстовый файл.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Выйти из рабочей станции и войти как пользователь, не имеющий административных прав.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Убедиться, что исполняемый файл не запускается, а тестовый файл можно читать, но нельзя изменять.</a:t>
            </a:r>
          </a:p>
        </p:txBody>
      </p:sp>
    </p:spTree>
    <p:extLst>
      <p:ext uri="{BB962C8B-B14F-4D97-AF65-F5344CB8AC3E}">
        <p14:creationId xmlns:p14="http://schemas.microsoft.com/office/powerpoint/2010/main" val="995404744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Выйти из рабочей станции и войти как пользователь, имеющий административные права.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Убедиться, что исполняемый файл можно запускать, а тестовый файл можно читать и изменять.</a:t>
            </a:r>
          </a:p>
        </p:txBody>
      </p:sp>
    </p:spTree>
    <p:extLst>
      <p:ext uri="{BB962C8B-B14F-4D97-AF65-F5344CB8AC3E}">
        <p14:creationId xmlns:p14="http://schemas.microsoft.com/office/powerpoint/2010/main" val="3975242423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Выполнить аналогичные действия с папкой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Чт-зап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 но разрешив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Чтение и выполнение, Список содержимого папки, Чтение, Запись.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1571612"/>
            <a:ext cx="370522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98729233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4"/>
          <p:cNvSpPr txBox="1">
            <a:spLocks noChangeArrowheads="1"/>
          </p:cNvSpPr>
          <p:nvPr/>
        </p:nvSpPr>
        <p:spPr bwMode="auto">
          <a:xfrm>
            <a:off x="0" y="0"/>
            <a:ext cx="91440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Times New Roman" pitchFamily="18" charset="0"/>
              </a:rPr>
              <a:t>Проверить, выполнив вход от имени обычного пользователя, что все эти операции в папке доступны для него.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664617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8802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Отчет по лабораторной работе для каждого студента бригады состоит в выполнении им пунктов задания (по указанию преподавателя).</a:t>
            </a: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Если задание выполнено, то работа засчитывается, иначе нет.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Палитра">
  <a:themeElements>
    <a:clrScheme name="1_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Палитр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8893A0"/>
            </a:solidFill>
            <a:effectLst/>
            <a:uLnTx/>
            <a:uFillTx/>
            <a:latin typeface="Arial" charset="0"/>
            <a:ea typeface="+mn-ea"/>
            <a:cs typeface="+mn-cs"/>
          </a:defRPr>
        </a:defPPr>
      </a:lstStyle>
    </a:txDef>
  </a:objectDefaults>
  <a:extraClrSchemeLst>
    <a:extraClrScheme>
      <a:clrScheme name="1_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4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5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6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7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8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9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0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2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3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4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5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6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7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8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9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0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2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3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4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5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6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13640</TotalTime>
  <Words>1534</Words>
  <Application>Microsoft Office PowerPoint</Application>
  <PresentationFormat>Экран (4:3)</PresentationFormat>
  <Paragraphs>172</Paragraphs>
  <Slides>67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67</vt:i4>
      </vt:variant>
    </vt:vector>
  </HeadingPairs>
  <TitlesOfParts>
    <vt:vector size="71" baseType="lpstr">
      <vt:lpstr>Times New Roman</vt:lpstr>
      <vt:lpstr>Arial</vt:lpstr>
      <vt:lpstr>Wingdings</vt:lpstr>
      <vt:lpstr>1_Палитра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SPIIRAS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creator>Gor</dc:creator>
  <cp:lastModifiedBy>Вячеслав Копешкин</cp:lastModifiedBy>
  <cp:revision>797</cp:revision>
  <cp:lastPrinted>2002-06-14T06:50:34Z</cp:lastPrinted>
  <dcterms:created xsi:type="dcterms:W3CDTF">2000-07-05T10:59:49Z</dcterms:created>
  <dcterms:modified xsi:type="dcterms:W3CDTF">2026-01-16T13:18:24Z</dcterms:modified>
</cp:coreProperties>
</file>