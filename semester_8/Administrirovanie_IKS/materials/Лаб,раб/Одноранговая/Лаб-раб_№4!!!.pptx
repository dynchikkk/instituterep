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25"/>
  </p:notesMasterIdLst>
  <p:handoutMasterIdLst>
    <p:handoutMasterId r:id="rId26"/>
  </p:handoutMasterIdLst>
  <p:sldIdLst>
    <p:sldId id="480" r:id="rId2"/>
    <p:sldId id="499" r:id="rId3"/>
    <p:sldId id="500" r:id="rId4"/>
    <p:sldId id="502" r:id="rId5"/>
    <p:sldId id="527" r:id="rId6"/>
    <p:sldId id="525" r:id="rId7"/>
    <p:sldId id="503" r:id="rId8"/>
    <p:sldId id="504" r:id="rId9"/>
    <p:sldId id="505" r:id="rId10"/>
    <p:sldId id="506" r:id="rId11"/>
    <p:sldId id="512" r:id="rId12"/>
    <p:sldId id="507" r:id="rId13"/>
    <p:sldId id="530" r:id="rId14"/>
    <p:sldId id="531" r:id="rId15"/>
    <p:sldId id="510" r:id="rId16"/>
    <p:sldId id="513" r:id="rId17"/>
    <p:sldId id="514" r:id="rId18"/>
    <p:sldId id="515" r:id="rId19"/>
    <p:sldId id="516" r:id="rId20"/>
    <p:sldId id="532" r:id="rId21"/>
    <p:sldId id="517" r:id="rId22"/>
    <p:sldId id="522" r:id="rId23"/>
    <p:sldId id="526" r:id="rId24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>
        <p:scale>
          <a:sx n="70" d="100"/>
          <a:sy n="70" d="100"/>
        </p:scale>
        <p:origin x="288" y="9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2428892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работа №</a:t>
            </a:r>
            <a:r>
              <a:rPr lang="en-US" sz="3600" b="1" dirty="0"/>
              <a:t>4</a:t>
            </a:r>
          </a:p>
          <a:p>
            <a:pPr algn="ctr">
              <a:buNone/>
            </a:pPr>
            <a:r>
              <a:rPr lang="ru-RU" sz="3600" b="1" dirty="0"/>
              <a:t>"Сетевые настройки</a:t>
            </a:r>
            <a:r>
              <a:rPr lang="en-US" sz="3600" b="1" dirty="0"/>
              <a:t> </a:t>
            </a:r>
            <a:r>
              <a:rPr lang="ru-RU" sz="3600" b="1" dirty="0"/>
              <a:t>рабочей станции при динамическом назначении адреса. Службы </a:t>
            </a:r>
            <a:r>
              <a:rPr lang="en-US" sz="3600" b="1" dirty="0"/>
              <a:t>DHCP </a:t>
            </a:r>
            <a:r>
              <a:rPr lang="ru-RU" sz="3600" b="1" dirty="0"/>
              <a:t>и </a:t>
            </a:r>
            <a:r>
              <a:rPr lang="en-US" sz="3600" b="1" dirty="0"/>
              <a:t>DNS</a:t>
            </a:r>
            <a:r>
              <a:rPr lang="ru-RU" sz="3600" b="1" dirty="0"/>
              <a:t>"</a:t>
            </a:r>
          </a:p>
          <a:p>
            <a:pPr marL="0" indent="0">
              <a:buNone/>
            </a:pPr>
            <a:endParaRPr lang="ru-RU" sz="20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u="sng" dirty="0"/>
              <a:t>Цель работы</a:t>
            </a:r>
            <a:r>
              <a:rPr lang="ru-RU" sz="2800" dirty="0"/>
              <a:t> научиться:</a:t>
            </a:r>
          </a:p>
          <a:p>
            <a:pPr marL="514350" indent="-514350">
              <a:buClr>
                <a:schemeClr val="tx1"/>
              </a:buClr>
              <a:buSzPct val="100000"/>
              <a:buAutoNum type="arabicPeriod"/>
            </a:pPr>
            <a:r>
              <a:rPr lang="ru-RU" sz="2800" dirty="0"/>
              <a:t>настраивать сетевой адаптер рабочей станции</a:t>
            </a:r>
            <a:r>
              <a:rPr lang="en-US" sz="2800" dirty="0"/>
              <a:t> </a:t>
            </a:r>
            <a:r>
              <a:rPr lang="ru-RU" sz="2800" dirty="0"/>
              <a:t>для динамической адресации</a:t>
            </a:r>
            <a:r>
              <a:rPr lang="en-US" sz="2800" dirty="0"/>
              <a:t> </a:t>
            </a:r>
            <a:r>
              <a:rPr lang="ru-RU" sz="2800" dirty="0"/>
              <a:t>с использованием </a:t>
            </a:r>
            <a:r>
              <a:rPr lang="en-US" sz="2800" dirty="0"/>
              <a:t>DHCP;</a:t>
            </a:r>
            <a:endParaRPr lang="ru-RU" sz="2800" dirty="0"/>
          </a:p>
          <a:p>
            <a:pPr marL="514350" indent="-514350">
              <a:buClr>
                <a:schemeClr val="tx1"/>
              </a:buClr>
              <a:buSzPct val="100000"/>
              <a:buFont typeface="Wingdings" pitchFamily="2" charset="2"/>
              <a:buAutoNum type="arabicPeriod"/>
            </a:pPr>
            <a:r>
              <a:rPr lang="ru-RU" sz="2800" dirty="0"/>
              <a:t>настраивать </a:t>
            </a:r>
            <a:r>
              <a:rPr lang="en-US" sz="2800" dirty="0"/>
              <a:t>DNS</a:t>
            </a:r>
            <a:r>
              <a:rPr lang="ru-RU" sz="2800" dirty="0"/>
              <a:t>;</a:t>
            </a:r>
            <a:endParaRPr lang="en-US" sz="2800" dirty="0"/>
          </a:p>
          <a:p>
            <a:pPr marL="514350" indent="-514350">
              <a:buClr>
                <a:schemeClr val="tx1"/>
              </a:buClr>
              <a:buSzPct val="100000"/>
              <a:buFont typeface="Wingdings" pitchFamily="2" charset="2"/>
              <a:buAutoNum type="arabicPeriod"/>
            </a:pPr>
            <a:r>
              <a:rPr lang="ru-RU" sz="2800" dirty="0"/>
              <a:t>запускать службы </a:t>
            </a:r>
            <a:r>
              <a:rPr lang="en-US" sz="2800" dirty="0"/>
              <a:t>DHCP</a:t>
            </a:r>
            <a:r>
              <a:rPr lang="ru-RU" sz="2800" dirty="0"/>
              <a:t> и </a:t>
            </a:r>
            <a:r>
              <a:rPr lang="en-US" sz="2800" dirty="0"/>
              <a:t>DNS</a:t>
            </a:r>
            <a:r>
              <a:rPr lang="ru-RU" sz="2800" dirty="0"/>
              <a:t>;</a:t>
            </a:r>
          </a:p>
          <a:p>
            <a:pPr marL="514350" indent="-514350">
              <a:buClr>
                <a:schemeClr val="tx1"/>
              </a:buClr>
              <a:buSzPct val="100000"/>
              <a:buFont typeface="Wingdings" pitchFamily="2" charset="2"/>
              <a:buAutoNum type="arabicPeriod"/>
            </a:pPr>
            <a:r>
              <a:rPr lang="ru-RU" sz="2800" dirty="0"/>
              <a:t>выполнять проверку работы </a:t>
            </a:r>
            <a:r>
              <a:rPr lang="en-US" sz="2800" dirty="0"/>
              <a:t>DHCP </a:t>
            </a:r>
            <a:r>
              <a:rPr lang="ru-RU" sz="2800" dirty="0"/>
              <a:t>и </a:t>
            </a:r>
            <a:r>
              <a:rPr lang="en-US" sz="2800" dirty="0"/>
              <a:t>DNS</a:t>
            </a:r>
            <a:r>
              <a:rPr lang="ru-RU" sz="2800" dirty="0"/>
              <a:t>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b="1" dirty="0"/>
              <a:t>Задание №1</a:t>
            </a:r>
            <a:r>
              <a:rPr lang="ru-RU" sz="2800" dirty="0"/>
              <a:t>. Настроить сетевой адаптер рабочих станций</a:t>
            </a:r>
            <a:r>
              <a:rPr lang="en-US" sz="2800" dirty="0"/>
              <a:t> </a:t>
            </a:r>
            <a:r>
              <a:rPr lang="ru-RU" sz="2800" dirty="0"/>
              <a:t>для динамической адресации.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Для динамической адресации в локальной сети необходимо установить и настроить специальное программное обеспечение (</a:t>
            </a:r>
            <a:r>
              <a:rPr lang="en-US" sz="2800" dirty="0"/>
              <a:t>DHCP</a:t>
            </a:r>
            <a:r>
              <a:rPr lang="ru-RU" sz="2800" dirty="0"/>
              <a:t> и </a:t>
            </a:r>
            <a:r>
              <a:rPr lang="en-US" sz="2800" dirty="0"/>
              <a:t>DNS </a:t>
            </a:r>
            <a:r>
              <a:rPr lang="ru-RU" sz="2800" dirty="0"/>
              <a:t>серверы), которое будет автоматически назначать сетевому адаптеру:</a:t>
            </a:r>
          </a:p>
          <a:p>
            <a:pPr indent="457200">
              <a:spcBef>
                <a:spcPts val="0"/>
              </a:spcBef>
            </a:pPr>
            <a:r>
              <a:rPr lang="en-US" sz="2800" dirty="0"/>
              <a:t>IP </a:t>
            </a:r>
            <a:r>
              <a:rPr lang="ru-RU" sz="2800" dirty="0"/>
              <a:t>адрес в сети;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маску сети;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шлюз для выхода во внешнюю сеть;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разрешать (сопоставлять) символьное имя.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Это программное обеспечение</a:t>
            </a:r>
            <a:r>
              <a:rPr lang="en-US" sz="2800" dirty="0"/>
              <a:t> (DualServerInstallerV7.39.exe)</a:t>
            </a:r>
            <a:r>
              <a:rPr lang="ru-RU" sz="2800" dirty="0"/>
              <a:t> находится в папке </a:t>
            </a:r>
            <a:r>
              <a:rPr lang="en-US" sz="2800" dirty="0"/>
              <a:t>D:\Users\iamp\Distrib OS\</a:t>
            </a:r>
            <a:r>
              <a:rPr lang="ru-RU" sz="2800" dirty="0"/>
              <a:t>. Его нужно установить на станции </a:t>
            </a:r>
            <a:r>
              <a:rPr lang="en-US" sz="2800" dirty="0"/>
              <a:t>WinXP1</a:t>
            </a:r>
            <a:r>
              <a:rPr lang="ru-RU" sz="2800" dirty="0"/>
              <a:t>и настроить.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400" dirty="0"/>
              <a:t>Скопировать с использованием съемного носителя файл </a:t>
            </a:r>
            <a:r>
              <a:rPr lang="en-US" sz="2400" b="1" dirty="0"/>
              <a:t>DualServerInstallerV7.39.exe</a:t>
            </a:r>
            <a:r>
              <a:rPr lang="ru-RU" sz="2400" b="1" dirty="0"/>
              <a:t> </a:t>
            </a:r>
            <a:r>
              <a:rPr lang="ru-RU" sz="2400" dirty="0"/>
              <a:t>на станцию </a:t>
            </a:r>
            <a:r>
              <a:rPr lang="en-US" sz="2400" dirty="0"/>
              <a:t>WinXP1 </a:t>
            </a:r>
            <a:r>
              <a:rPr lang="ru-RU" sz="2400" dirty="0"/>
              <a:t>и с правами</a:t>
            </a:r>
            <a:r>
              <a:rPr lang="en-US" sz="2400" dirty="0"/>
              <a:t> </a:t>
            </a:r>
            <a:r>
              <a:rPr lang="ru-RU" sz="2400" dirty="0"/>
              <a:t>локального администратора станции произвести установку.</a:t>
            </a:r>
          </a:p>
          <a:p>
            <a:pPr indent="457200">
              <a:spcBef>
                <a:spcPts val="0"/>
              </a:spcBef>
            </a:pPr>
            <a:r>
              <a:rPr lang="ru-RU" sz="2400" dirty="0"/>
              <a:t>После установки выполнить настройку служб </a:t>
            </a:r>
            <a:r>
              <a:rPr lang="en-US" sz="2400" dirty="0"/>
              <a:t>DHCP </a:t>
            </a:r>
            <a:r>
              <a:rPr lang="ru-RU" sz="2400" dirty="0"/>
              <a:t>и </a:t>
            </a:r>
            <a:r>
              <a:rPr lang="en-US" sz="2400" dirty="0"/>
              <a:t>DNS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indent="457200">
              <a:spcBef>
                <a:spcPts val="0"/>
              </a:spcBef>
            </a:pPr>
            <a:r>
              <a:rPr lang="ru-RU" sz="2400" dirty="0" smtClean="0"/>
              <a:t>Для этого включаем  в </a:t>
            </a:r>
            <a:r>
              <a:rPr lang="en-US" sz="2400" b="1" dirty="0" smtClean="0"/>
              <a:t>SERVICES</a:t>
            </a:r>
            <a:r>
              <a:rPr lang="ru-RU" sz="2400" b="1" dirty="0" smtClean="0"/>
              <a:t> </a:t>
            </a:r>
            <a:r>
              <a:rPr lang="en-US" sz="2400" dirty="0" smtClean="0"/>
              <a:t>DNS </a:t>
            </a:r>
            <a:r>
              <a:rPr lang="ru-RU" sz="2400" dirty="0" smtClean="0"/>
              <a:t>и </a:t>
            </a:r>
            <a:r>
              <a:rPr lang="en-US" sz="2400" dirty="0" smtClean="0"/>
              <a:t>DHCP</a:t>
            </a:r>
            <a:r>
              <a:rPr lang="ru-RU" sz="2400" dirty="0" smtClean="0"/>
              <a:t>, убрав стоящую перед ними </a:t>
            </a:r>
            <a:r>
              <a:rPr lang="ru-RU" sz="2400" b="1" dirty="0" smtClean="0"/>
              <a:t>;</a:t>
            </a:r>
          </a:p>
          <a:p>
            <a:pPr indent="457200">
              <a:spcBef>
                <a:spcPts val="0"/>
              </a:spcBef>
            </a:pPr>
            <a:r>
              <a:rPr lang="ru-RU" sz="2400" i="1" dirty="0">
                <a:solidFill>
                  <a:srgbClr val="FF0000"/>
                </a:solidFill>
              </a:rPr>
              <a:t>Для тех, кто не знает:</a:t>
            </a:r>
          </a:p>
          <a:p>
            <a:pPr indent="457200">
              <a:spcBef>
                <a:spcPts val="0"/>
              </a:spcBef>
            </a:pPr>
            <a:r>
              <a:rPr lang="ru-RU" sz="2400" b="1" i="1" dirty="0">
                <a:solidFill>
                  <a:srgbClr val="FF0000"/>
                </a:solidFill>
              </a:rPr>
              <a:t>;</a:t>
            </a:r>
            <a:r>
              <a:rPr lang="ru-RU" sz="2400" i="1" dirty="0">
                <a:solidFill>
                  <a:srgbClr val="FF0000"/>
                </a:solidFill>
              </a:rPr>
              <a:t> - блокирует строку конфигурационного файла.</a:t>
            </a:r>
            <a:endParaRPr lang="ru-RU" sz="2400" b="1" i="1" dirty="0">
              <a:solidFill>
                <a:srgbClr val="FF0000"/>
              </a:solidFill>
            </a:endParaRPr>
          </a:p>
          <a:p>
            <a:pPr indent="457200">
              <a:spcBef>
                <a:spcPts val="0"/>
              </a:spcBef>
            </a:pPr>
            <a:endParaRPr lang="en-US" sz="2400" b="1" i="1" dirty="0" smtClean="0">
              <a:solidFill>
                <a:srgbClr val="FF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140968"/>
            <a:ext cx="7424716" cy="3496047"/>
          </a:xfrm>
          <a:prstGeom prst="rect">
            <a:avLst/>
          </a:prstGeom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971600" y="1916832"/>
            <a:ext cx="4608512" cy="43924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cxnSpLocks/>
          </p:cNvCxnSpPr>
          <p:nvPr/>
        </p:nvCxnSpPr>
        <p:spPr>
          <a:xfrm flipH="1">
            <a:off x="1115616" y="1916832"/>
            <a:ext cx="5544616" cy="460851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b="1" dirty="0"/>
              <a:t>Настройка </a:t>
            </a:r>
            <a:r>
              <a:rPr lang="en-US" sz="2800" b="1" dirty="0"/>
              <a:t>DHCP</a:t>
            </a:r>
            <a:r>
              <a:rPr lang="ru-RU" sz="2800" dirty="0"/>
              <a:t>. На станции </a:t>
            </a:r>
            <a:r>
              <a:rPr lang="en-US" sz="2800" dirty="0"/>
              <a:t>WinXp1 </a:t>
            </a:r>
            <a:r>
              <a:rPr lang="ru-RU" sz="2800" dirty="0"/>
              <a:t>открыть файл конфигурации (настройки) </a:t>
            </a:r>
            <a:r>
              <a:rPr lang="en-US" sz="2800" dirty="0"/>
              <a:t>C:\Program Files\</a:t>
            </a:r>
            <a:r>
              <a:rPr lang="en-US" sz="2800" dirty="0" err="1"/>
              <a:t>DualServer</a:t>
            </a:r>
            <a:r>
              <a:rPr lang="en-US" sz="2800" dirty="0"/>
              <a:t>\DualServer.ini (</a:t>
            </a:r>
            <a:r>
              <a:rPr lang="ru-RU" sz="2800" dirty="0"/>
              <a:t>двойной левый клик</a:t>
            </a:r>
            <a:r>
              <a:rPr lang="en-US" sz="2800" dirty="0"/>
              <a:t>)</a:t>
            </a:r>
            <a:r>
              <a:rPr lang="ru-RU" sz="2800" dirty="0"/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928802"/>
            <a:ext cx="57721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6200000" flipH="1">
            <a:off x="2750331" y="2607463"/>
            <a:ext cx="3571900" cy="78581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233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>
                <a:solidFill>
                  <a:srgbClr val="000000"/>
                </a:solidFill>
              </a:rPr>
              <a:t>Найти строчку </a:t>
            </a:r>
            <a:r>
              <a:rPr lang="en-US" sz="2800" b="1" dirty="0">
                <a:solidFill>
                  <a:srgbClr val="000000"/>
                </a:solidFill>
              </a:rPr>
              <a:t>[LISTEN_ON]</a:t>
            </a:r>
            <a:r>
              <a:rPr lang="ru-RU" sz="2800" dirty="0">
                <a:solidFill>
                  <a:srgbClr val="000000"/>
                </a:solidFill>
              </a:rPr>
              <a:t>,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 убрать </a:t>
            </a:r>
            <a:r>
              <a:rPr lang="ru-RU" sz="2800" b="1" dirty="0">
                <a:solidFill>
                  <a:srgbClr val="000000"/>
                </a:solidFill>
              </a:rPr>
              <a:t>; </a:t>
            </a:r>
            <a:r>
              <a:rPr lang="ru-RU" sz="2800" dirty="0">
                <a:solidFill>
                  <a:srgbClr val="000000"/>
                </a:solidFill>
              </a:rPr>
              <a:t> перед 192.168.0.1 и заменить на 192.168.1.2, тем самым разрешив прослушивание запросов от </a:t>
            </a:r>
            <a:r>
              <a:rPr lang="en-US" sz="2800" dirty="0">
                <a:solidFill>
                  <a:srgbClr val="000000"/>
                </a:solidFill>
              </a:rPr>
              <a:t>DHCP </a:t>
            </a:r>
            <a:r>
              <a:rPr lang="ru-RU" sz="2800" dirty="0">
                <a:solidFill>
                  <a:srgbClr val="000000"/>
                </a:solidFill>
              </a:rPr>
              <a:t>и </a:t>
            </a:r>
            <a:r>
              <a:rPr lang="en-US" sz="2800" dirty="0">
                <a:solidFill>
                  <a:srgbClr val="000000"/>
                </a:solidFill>
              </a:rPr>
              <a:t>DNS </a:t>
            </a:r>
            <a:r>
              <a:rPr lang="ru-RU" sz="2800" dirty="0">
                <a:solidFill>
                  <a:srgbClr val="000000"/>
                </a:solidFill>
              </a:rPr>
              <a:t>служб по адресу 192.168.1.2 (</a:t>
            </a:r>
            <a:r>
              <a:rPr lang="en-US" sz="2800" dirty="0">
                <a:solidFill>
                  <a:srgbClr val="000000"/>
                </a:solidFill>
              </a:rPr>
              <a:t>WinXp1</a:t>
            </a:r>
            <a:r>
              <a:rPr lang="ru-RU" sz="2800" dirty="0">
                <a:solidFill>
                  <a:srgbClr val="000000"/>
                </a:solidFill>
              </a:rPr>
              <a:t>).</a:t>
            </a:r>
            <a:endParaRPr lang="ru-RU" sz="2800" b="1" dirty="0">
              <a:solidFill>
                <a:srgbClr val="000000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669834" y="150237"/>
            <a:ext cx="285752" cy="35719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87" y="1930889"/>
            <a:ext cx="5953125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 flipH="1">
            <a:off x="1763688" y="500042"/>
            <a:ext cx="4880014" cy="321699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81F97BFE-42A7-4DE8-8E00-039064E33047}"/>
              </a:ext>
            </a:extLst>
          </p:cNvPr>
          <p:cNvSpPr/>
          <p:nvPr/>
        </p:nvSpPr>
        <p:spPr>
          <a:xfrm>
            <a:off x="26102" y="595566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>
                <a:solidFill>
                  <a:srgbClr val="000000"/>
                </a:solidFill>
              </a:rPr>
              <a:t>Для тех, кто не знает:</a:t>
            </a:r>
          </a:p>
          <a:p>
            <a:pPr indent="457200">
              <a:spcBef>
                <a:spcPts val="0"/>
              </a:spcBef>
            </a:pPr>
            <a:r>
              <a:rPr lang="ru-RU" sz="2800" b="1" dirty="0">
                <a:solidFill>
                  <a:srgbClr val="000000"/>
                </a:solidFill>
              </a:rPr>
              <a:t>;</a:t>
            </a:r>
            <a:r>
              <a:rPr lang="ru-RU" sz="2800" dirty="0">
                <a:solidFill>
                  <a:srgbClr val="000000"/>
                </a:solidFill>
              </a:rPr>
              <a:t> - блокирует строку конфигурационного файла.</a:t>
            </a:r>
            <a:endParaRPr lang="ru-RU" sz="2800" b="1" dirty="0">
              <a:solidFill>
                <a:srgbClr val="000000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82A53EED-FD1B-4D34-BF63-18309FBFBA27}"/>
              </a:ext>
            </a:extLst>
          </p:cNvPr>
          <p:cNvSpPr/>
          <p:nvPr/>
        </p:nvSpPr>
        <p:spPr>
          <a:xfrm>
            <a:off x="467544" y="6532229"/>
            <a:ext cx="285752" cy="35719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8314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Найти строчку </a:t>
            </a:r>
            <a:r>
              <a:rPr lang="en-US" sz="2800" b="1" dirty="0"/>
              <a:t>[SERVICES] </a:t>
            </a:r>
            <a:r>
              <a:rPr lang="ru-RU" sz="2800" dirty="0"/>
              <a:t>и убрать </a:t>
            </a:r>
            <a:r>
              <a:rPr lang="ru-RU" sz="2800" b="1" dirty="0"/>
              <a:t>; </a:t>
            </a:r>
            <a:r>
              <a:rPr lang="ru-RU" sz="2800" dirty="0"/>
              <a:t>перед </a:t>
            </a:r>
            <a:r>
              <a:rPr lang="en-US" sz="2800" dirty="0"/>
              <a:t>DNS </a:t>
            </a:r>
            <a:r>
              <a:rPr lang="ru-RU" sz="2800" dirty="0"/>
              <a:t>и </a:t>
            </a:r>
            <a:r>
              <a:rPr lang="en-US" sz="2800" dirty="0"/>
              <a:t>DHCP</a:t>
            </a:r>
            <a:r>
              <a:rPr lang="ru-RU" sz="2800" dirty="0"/>
              <a:t>, тем самым разрешив их работу.</a:t>
            </a:r>
            <a:endParaRPr lang="ru-RU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214554"/>
            <a:ext cx="567690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1571604" y="500042"/>
            <a:ext cx="5072098" cy="500066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6500826" y="142852"/>
            <a:ext cx="285752" cy="35719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Затем выполнить настройку </a:t>
            </a:r>
            <a:r>
              <a:rPr lang="en-US" sz="2800" dirty="0"/>
              <a:t>DHCP</a:t>
            </a:r>
            <a:r>
              <a:rPr lang="ru-RU" sz="2800" dirty="0"/>
              <a:t>. Для чего найти в файле раздел </a:t>
            </a:r>
            <a:r>
              <a:rPr lang="en-US" sz="2800" b="1" dirty="0"/>
              <a:t>DHCP Sections</a:t>
            </a:r>
            <a:r>
              <a:rPr lang="ru-RU" sz="2800" dirty="0"/>
              <a:t>.</a:t>
            </a:r>
            <a:endParaRPr lang="ru-RU" sz="28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0688" y="1509713"/>
            <a:ext cx="576262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2643174" y="500042"/>
            <a:ext cx="4000528" cy="228601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400" dirty="0"/>
              <a:t>Найти подраздел </a:t>
            </a:r>
            <a:r>
              <a:rPr lang="en-US" sz="2400" b="1" dirty="0"/>
              <a:t>[RANGE_SET</a:t>
            </a:r>
            <a:r>
              <a:rPr lang="en-US" sz="2400" dirty="0"/>
              <a:t>]</a:t>
            </a:r>
            <a:r>
              <a:rPr lang="ru-RU" sz="2400" dirty="0"/>
              <a:t>, и изменить в нем строку:</a:t>
            </a:r>
          </a:p>
          <a:p>
            <a:pPr indent="457200">
              <a:spcBef>
                <a:spcPts val="0"/>
              </a:spcBef>
            </a:pPr>
            <a:r>
              <a:rPr lang="en-US" sz="2400" b="1" dirty="0"/>
              <a:t>;</a:t>
            </a:r>
            <a:r>
              <a:rPr lang="en-US" sz="2400" dirty="0" err="1"/>
              <a:t>DHCPRange</a:t>
            </a:r>
            <a:r>
              <a:rPr lang="en-US" sz="2400" dirty="0"/>
              <a:t>=192.168.0.1-192.168.0.254</a:t>
            </a:r>
            <a:r>
              <a:rPr lang="ru-RU" sz="2400" dirty="0"/>
              <a:t> на</a:t>
            </a:r>
          </a:p>
          <a:p>
            <a:pPr indent="457200">
              <a:spcBef>
                <a:spcPts val="0"/>
              </a:spcBef>
            </a:pPr>
            <a:r>
              <a:rPr lang="en-US" sz="2400" dirty="0" err="1"/>
              <a:t>DHCPRange</a:t>
            </a:r>
            <a:r>
              <a:rPr lang="en-US" sz="2400" dirty="0"/>
              <a:t>=192.168.</a:t>
            </a:r>
            <a:r>
              <a:rPr lang="ru-RU" sz="2400" dirty="0"/>
              <a:t>1</a:t>
            </a:r>
            <a:r>
              <a:rPr lang="en-US" sz="2400" dirty="0"/>
              <a:t>.1</a:t>
            </a:r>
            <a:r>
              <a:rPr lang="ru-RU" sz="2400" dirty="0"/>
              <a:t>0</a:t>
            </a:r>
            <a:r>
              <a:rPr lang="en-US" sz="2400" dirty="0"/>
              <a:t>-192.168.</a:t>
            </a:r>
            <a:r>
              <a:rPr lang="ru-RU" sz="2400" dirty="0"/>
              <a:t>1</a:t>
            </a:r>
            <a:r>
              <a:rPr lang="en-US" sz="2400" dirty="0"/>
              <a:t>.254</a:t>
            </a:r>
            <a:r>
              <a:rPr lang="ru-RU" sz="2400" dirty="0"/>
              <a:t>.</a:t>
            </a:r>
          </a:p>
          <a:p>
            <a:pPr indent="457200">
              <a:spcBef>
                <a:spcPts val="0"/>
              </a:spcBef>
            </a:pPr>
            <a:r>
              <a:rPr lang="ru-RU" sz="2400" dirty="0"/>
              <a:t>Сохранить изменения.</a:t>
            </a:r>
          </a:p>
          <a:p>
            <a:pPr indent="457200">
              <a:spcBef>
                <a:spcPts val="0"/>
              </a:spcBef>
            </a:pPr>
            <a:r>
              <a:rPr lang="en-US" sz="2400" dirty="0"/>
              <a:t>DHCP</a:t>
            </a:r>
            <a:r>
              <a:rPr lang="ru-RU" sz="2400" dirty="0"/>
              <a:t> сервер будет раздавать адреса в диапазоне:</a:t>
            </a:r>
          </a:p>
          <a:p>
            <a:pPr indent="457200">
              <a:spcBef>
                <a:spcPts val="0"/>
              </a:spcBef>
            </a:pPr>
            <a:r>
              <a:rPr lang="en-US" sz="2400" dirty="0"/>
              <a:t>192.168.</a:t>
            </a:r>
            <a:r>
              <a:rPr lang="ru-RU" sz="2400" dirty="0"/>
              <a:t>1</a:t>
            </a:r>
            <a:r>
              <a:rPr lang="en-US" sz="2400" dirty="0"/>
              <a:t>.1</a:t>
            </a:r>
            <a:r>
              <a:rPr lang="ru-RU" sz="2400" dirty="0"/>
              <a:t>0</a:t>
            </a:r>
            <a:r>
              <a:rPr lang="en-US" sz="2400" dirty="0"/>
              <a:t>-192.168.</a:t>
            </a:r>
            <a:r>
              <a:rPr lang="ru-RU" sz="2400" dirty="0"/>
              <a:t>1</a:t>
            </a:r>
            <a:r>
              <a:rPr lang="en-US" sz="2400" dirty="0"/>
              <a:t>.254</a:t>
            </a:r>
            <a:endParaRPr lang="ru-RU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5656" y="2857495"/>
            <a:ext cx="571500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>
            <a:off x="1835696" y="692696"/>
            <a:ext cx="864096" cy="39185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Эта настройка разрешит </a:t>
            </a:r>
            <a:r>
              <a:rPr lang="en-US" sz="2800" dirty="0"/>
              <a:t>DHCP </a:t>
            </a:r>
            <a:r>
              <a:rPr lang="ru-RU" sz="2800" dirty="0"/>
              <a:t>серверу раздавать адреса для рабочих станций в диапазоне от:</a:t>
            </a:r>
          </a:p>
          <a:p>
            <a:pPr indent="457200">
              <a:spcBef>
                <a:spcPts val="0"/>
              </a:spcBef>
            </a:pPr>
            <a:r>
              <a:rPr lang="en-US" sz="2800" dirty="0"/>
              <a:t>192.168.1.10</a:t>
            </a:r>
            <a:r>
              <a:rPr lang="ru-RU" sz="2800" dirty="0"/>
              <a:t> до </a:t>
            </a:r>
            <a:r>
              <a:rPr lang="en-US" sz="2800" dirty="0"/>
              <a:t>192.168.1.254</a:t>
            </a:r>
            <a:r>
              <a:rPr lang="ru-RU" sz="2800" dirty="0"/>
              <a:t>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b="1" dirty="0"/>
              <a:t>Задание №2</a:t>
            </a:r>
            <a:r>
              <a:rPr lang="ru-RU" sz="2800" dirty="0"/>
              <a:t>. Настроить </a:t>
            </a:r>
            <a:r>
              <a:rPr lang="en-US" sz="2800" dirty="0"/>
              <a:t>DNS </a:t>
            </a:r>
            <a:r>
              <a:rPr lang="ru-RU" sz="2800" dirty="0"/>
              <a:t>сервер в локальной сети.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Для работы с символьными именами станций в стеке протоколов </a:t>
            </a:r>
            <a:r>
              <a:rPr lang="en-US" sz="2800" dirty="0"/>
              <a:t>TCP/IP</a:t>
            </a:r>
            <a:r>
              <a:rPr lang="ru-RU" sz="2800" dirty="0"/>
              <a:t>  локальной сети необходимо установить и настроить специальное программное обеспечение (</a:t>
            </a:r>
            <a:r>
              <a:rPr lang="en-US" sz="2800" dirty="0"/>
              <a:t>DNS </a:t>
            </a:r>
            <a:r>
              <a:rPr lang="ru-RU" sz="2800" dirty="0"/>
              <a:t>сервер), которое будет автоматически сопоставлять </a:t>
            </a:r>
            <a:r>
              <a:rPr lang="en-US" sz="2800" dirty="0"/>
              <a:t>IP </a:t>
            </a:r>
            <a:r>
              <a:rPr lang="ru-RU" sz="2800" dirty="0"/>
              <a:t>адрес символьному имени станции.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Это программное обеспечение есть в составе </a:t>
            </a:r>
            <a:r>
              <a:rPr lang="en-US" sz="2800" dirty="0" err="1"/>
              <a:t>DualServer</a:t>
            </a:r>
            <a:r>
              <a:rPr lang="en-US" sz="2800" dirty="0"/>
              <a:t> </a:t>
            </a:r>
            <a:r>
              <a:rPr lang="ru-RU" sz="2800" dirty="0"/>
              <a:t>на рабочей станции </a:t>
            </a:r>
            <a:r>
              <a:rPr lang="en-US" sz="2800" dirty="0"/>
              <a:t>WinXp1</a:t>
            </a:r>
            <a:r>
              <a:rPr lang="ru-RU" sz="2800" dirty="0"/>
              <a:t>. Но его нужно настроить.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b="1" dirty="0"/>
              <a:t>Настройка </a:t>
            </a:r>
            <a:r>
              <a:rPr lang="en-US" sz="2800" b="1" dirty="0"/>
              <a:t>DNS</a:t>
            </a:r>
            <a:r>
              <a:rPr lang="ru-RU" sz="2800" dirty="0"/>
              <a:t>. На станции </a:t>
            </a:r>
            <a:r>
              <a:rPr lang="en-US" sz="2800" dirty="0"/>
              <a:t>WinXp1 </a:t>
            </a:r>
            <a:r>
              <a:rPr lang="ru-RU" sz="2800" dirty="0"/>
              <a:t>открыть файл конфигурации (настройки) </a:t>
            </a:r>
            <a:r>
              <a:rPr lang="en-US" sz="2800" dirty="0"/>
              <a:t>C:\Program Files\</a:t>
            </a:r>
            <a:r>
              <a:rPr lang="en-US" sz="2800" dirty="0" err="1"/>
              <a:t>DualServer</a:t>
            </a:r>
            <a:r>
              <a:rPr lang="en-US" sz="2800" dirty="0"/>
              <a:t>\DualServer.ini (</a:t>
            </a:r>
            <a:r>
              <a:rPr lang="ru-RU" sz="2800" dirty="0"/>
              <a:t>двойной левый клик</a:t>
            </a:r>
            <a:r>
              <a:rPr lang="en-US" sz="2800" dirty="0"/>
              <a:t>)</a:t>
            </a:r>
            <a:r>
              <a:rPr lang="ru-RU" sz="2800" dirty="0"/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928802"/>
            <a:ext cx="57721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6200000" flipH="1">
            <a:off x="2750331" y="2607463"/>
            <a:ext cx="3571900" cy="78581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2276872"/>
            <a:ext cx="8100901" cy="2952328"/>
          </a:xfrm>
          <a:prstGeom prst="rect">
            <a:avLst/>
          </a:prstGeom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755576" y="404664"/>
            <a:ext cx="2088232" cy="424847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 smtClean="0">
                <a:solidFill>
                  <a:srgbClr val="000000"/>
                </a:solidFill>
              </a:rPr>
              <a:t>Задать диапазон </a:t>
            </a:r>
            <a:r>
              <a:rPr lang="en-US" sz="2800" dirty="0" smtClean="0">
                <a:solidFill>
                  <a:srgbClr val="000000"/>
                </a:solidFill>
              </a:rPr>
              <a:t>IP </a:t>
            </a:r>
            <a:r>
              <a:rPr lang="ru-RU" sz="2800" dirty="0" smtClean="0">
                <a:solidFill>
                  <a:srgbClr val="000000"/>
                </a:solidFill>
              </a:rPr>
              <a:t>адресов, внутри которых </a:t>
            </a:r>
            <a:r>
              <a:rPr lang="en-US" sz="2800" dirty="0" smtClean="0">
                <a:solidFill>
                  <a:srgbClr val="000000"/>
                </a:solidFill>
              </a:rPr>
              <a:t>DNS </a:t>
            </a:r>
            <a:r>
              <a:rPr lang="ru-RU" sz="2800" dirty="0" smtClean="0">
                <a:solidFill>
                  <a:srgbClr val="000000"/>
                </a:solidFill>
              </a:rPr>
              <a:t>сервер будет разрешать символьные имена:</a:t>
            </a:r>
            <a:endParaRPr lang="ru-RU" sz="2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2902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54" y="1484784"/>
            <a:ext cx="5648638" cy="5368831"/>
          </a:xfrm>
          <a:prstGeom prst="rect">
            <a:avLst/>
          </a:prstGeom>
        </p:spPr>
      </p:pic>
      <p:cxnSp>
        <p:nvCxnSpPr>
          <p:cNvPr id="7" name="Прямая со стрелкой 6"/>
          <p:cNvCxnSpPr>
            <a:cxnSpLocks/>
          </p:cNvCxnSpPr>
          <p:nvPr/>
        </p:nvCxnSpPr>
        <p:spPr>
          <a:xfrm>
            <a:off x="971600" y="954107"/>
            <a:ext cx="144016" cy="5355213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 smtClean="0">
                <a:solidFill>
                  <a:srgbClr val="000000"/>
                </a:solidFill>
              </a:rPr>
              <a:t>В разделе </a:t>
            </a:r>
            <a:r>
              <a:rPr lang="en-US" sz="2800" dirty="0" smtClean="0">
                <a:solidFill>
                  <a:srgbClr val="000000"/>
                </a:solidFill>
              </a:rPr>
              <a:t>[DNS_HOSTS] c</a:t>
            </a:r>
            <a:r>
              <a:rPr lang="ru-RU" sz="2800" dirty="0" err="1" smtClean="0">
                <a:solidFill>
                  <a:srgbClr val="000000"/>
                </a:solidFill>
              </a:rPr>
              <a:t>опоставить</a:t>
            </a:r>
            <a:r>
              <a:rPr lang="ru-RU" sz="2800" dirty="0" smtClean="0">
                <a:solidFill>
                  <a:srgbClr val="000000"/>
                </a:solidFill>
              </a:rPr>
              <a:t> </a:t>
            </a:r>
            <a:r>
              <a:rPr lang="ru-RU" sz="2800" dirty="0" smtClean="0">
                <a:solidFill>
                  <a:srgbClr val="000000"/>
                </a:solidFill>
              </a:rPr>
              <a:t>символьным именам станций их </a:t>
            </a:r>
            <a:r>
              <a:rPr lang="en-US" sz="2800" dirty="0" smtClean="0">
                <a:solidFill>
                  <a:srgbClr val="000000"/>
                </a:solidFill>
              </a:rPr>
              <a:t>IP </a:t>
            </a:r>
            <a:r>
              <a:rPr lang="ru-RU" sz="2800" dirty="0" smtClean="0">
                <a:solidFill>
                  <a:srgbClr val="000000"/>
                </a:solidFill>
              </a:rPr>
              <a:t>адреса:</a:t>
            </a:r>
            <a:endParaRPr lang="ru-RU" sz="2800" b="1" dirty="0">
              <a:solidFill>
                <a:srgbClr val="000000"/>
              </a:solidFill>
            </a:endParaRPr>
          </a:p>
        </p:txBody>
      </p:sp>
      <p:cxnSp>
        <p:nvCxnSpPr>
          <p:cNvPr id="5" name="Прямая со стрелкой 4"/>
          <p:cNvCxnSpPr>
            <a:cxnSpLocks/>
          </p:cNvCxnSpPr>
          <p:nvPr/>
        </p:nvCxnSpPr>
        <p:spPr>
          <a:xfrm flipH="1">
            <a:off x="1547664" y="404664"/>
            <a:ext cx="1224136" cy="10801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9897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chemeClr val="tx1"/>
              </a:buClr>
              <a:buSzPct val="100000"/>
            </a:pPr>
            <a:r>
              <a:rPr lang="ru-RU" sz="2800" b="1" dirty="0"/>
              <a:t>Задание №3</a:t>
            </a:r>
            <a:r>
              <a:rPr lang="ru-RU" sz="2800" dirty="0"/>
              <a:t>. Запустить службы </a:t>
            </a:r>
            <a:r>
              <a:rPr lang="en-US" sz="2800" dirty="0"/>
              <a:t>DHCP</a:t>
            </a:r>
            <a:r>
              <a:rPr lang="ru-RU" sz="2800" dirty="0"/>
              <a:t> и </a:t>
            </a:r>
            <a:r>
              <a:rPr lang="en-US" sz="2800" dirty="0"/>
              <a:t>DNS</a:t>
            </a:r>
            <a:r>
              <a:rPr lang="ru-RU" sz="2800" dirty="0"/>
              <a:t>.</a:t>
            </a:r>
          </a:p>
          <a:p>
            <a:pPr marL="514350">
              <a:buClr>
                <a:schemeClr val="tx1"/>
              </a:buClr>
              <a:buSzPct val="100000"/>
            </a:pPr>
            <a:r>
              <a:rPr lang="ru-RU" sz="2000" b="1" dirty="0"/>
              <a:t>Пуск-</a:t>
            </a:r>
            <a:r>
              <a:rPr lang="en-US" sz="2000" b="1" dirty="0"/>
              <a:t>&gt;</a:t>
            </a:r>
            <a:r>
              <a:rPr lang="ru-RU" sz="2000" b="1" dirty="0"/>
              <a:t>Панель управления-</a:t>
            </a:r>
            <a:r>
              <a:rPr lang="en-US" sz="2000" b="1" dirty="0"/>
              <a:t>&gt;</a:t>
            </a:r>
            <a:r>
              <a:rPr lang="ru-RU" sz="2000" b="1" dirty="0"/>
              <a:t>Администрирование</a:t>
            </a:r>
          </a:p>
          <a:p>
            <a:pPr marL="514350">
              <a:buClr>
                <a:schemeClr val="tx1"/>
              </a:buClr>
              <a:buSzPct val="100000"/>
            </a:pPr>
            <a:r>
              <a:rPr lang="ru-RU" sz="2000" b="1" dirty="0"/>
              <a:t>-</a:t>
            </a:r>
            <a:r>
              <a:rPr lang="en-US" sz="2000" b="1" dirty="0"/>
              <a:t>&gt;</a:t>
            </a:r>
            <a:r>
              <a:rPr lang="ru-RU" sz="2000" b="1" dirty="0"/>
              <a:t>Службы </a:t>
            </a:r>
            <a:r>
              <a:rPr lang="ru-RU" sz="2000" dirty="0"/>
              <a:t>(двойной левый клик)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1139" y="1500175"/>
            <a:ext cx="5019688" cy="5019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chemeClr val="tx1"/>
              </a:buClr>
              <a:buSzPct val="100000"/>
            </a:pPr>
            <a:r>
              <a:rPr lang="ru-RU" sz="2800" dirty="0"/>
              <a:t>Выделить </a:t>
            </a:r>
            <a:r>
              <a:rPr lang="en-US" sz="2800" dirty="0"/>
              <a:t>Dual DHCP DNS Service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71546"/>
            <a:ext cx="71247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chemeClr val="tx1"/>
              </a:buClr>
              <a:buSzPct val="100000"/>
            </a:pPr>
            <a:r>
              <a:rPr lang="ru-RU" sz="2400" dirty="0"/>
              <a:t>Вызвать контекстное меню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ru-RU" sz="2400" b="1" dirty="0"/>
              <a:t> Пуск.</a:t>
            </a:r>
          </a:p>
          <a:p>
            <a:pPr marL="514350" indent="-514350">
              <a:buClr>
                <a:schemeClr val="tx1"/>
              </a:buClr>
              <a:buSzPct val="100000"/>
            </a:pPr>
            <a:r>
              <a:rPr lang="ru-RU" sz="2400" dirty="0"/>
              <a:t>Закрыть </a:t>
            </a:r>
            <a:r>
              <a:rPr lang="ru-RU" sz="2400" b="1" dirty="0"/>
              <a:t>Службы </a:t>
            </a:r>
            <a:r>
              <a:rPr lang="ru-RU" sz="2400" dirty="0"/>
              <a:t>и </a:t>
            </a:r>
            <a:r>
              <a:rPr lang="ru-RU" sz="2400" b="1" dirty="0"/>
              <a:t>Панель управления.</a:t>
            </a:r>
            <a:endParaRPr lang="en-US" sz="24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6787" y="1484784"/>
            <a:ext cx="7210425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xmlns="" id="{DDB8C23B-7CC8-4253-A3B4-643D213E2979}"/>
              </a:ext>
            </a:extLst>
          </p:cNvPr>
          <p:cNvCxnSpPr>
            <a:cxnSpLocks/>
          </p:cNvCxnSpPr>
          <p:nvPr/>
        </p:nvCxnSpPr>
        <p:spPr>
          <a:xfrm>
            <a:off x="4788024" y="415498"/>
            <a:ext cx="648072" cy="286948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chemeClr val="tx1"/>
              </a:buClr>
              <a:buSzPct val="100000"/>
            </a:pPr>
            <a:r>
              <a:rPr lang="ru-RU" sz="2800" dirty="0"/>
              <a:t>Состояние службы </a:t>
            </a:r>
            <a:r>
              <a:rPr lang="en-US" sz="2800" dirty="0" err="1"/>
              <a:t>DualServer</a:t>
            </a:r>
            <a:r>
              <a:rPr lang="en-US" sz="2800" dirty="0"/>
              <a:t> </a:t>
            </a:r>
            <a:r>
              <a:rPr lang="ru-RU" sz="2800" dirty="0"/>
              <a:t>должно быть </a:t>
            </a:r>
            <a:r>
              <a:rPr lang="ru-RU" sz="2800" b="1" dirty="0"/>
              <a:t>Работает</a:t>
            </a:r>
            <a:endParaRPr lang="en-US" sz="28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2963" y="1123950"/>
            <a:ext cx="745807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>
          <a:xfrm>
            <a:off x="1979712" y="836712"/>
            <a:ext cx="4521114" cy="209222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b="1" dirty="0"/>
              <a:t>Задание №4</a:t>
            </a:r>
            <a:r>
              <a:rPr lang="ru-RU" sz="2800" dirty="0"/>
              <a:t>. Выполнить проверку работы </a:t>
            </a:r>
            <a:r>
              <a:rPr lang="en-US" sz="2800" dirty="0"/>
              <a:t>DHCP </a:t>
            </a:r>
            <a:r>
              <a:rPr lang="ru-RU" sz="2800" dirty="0"/>
              <a:t>и </a:t>
            </a:r>
            <a:r>
              <a:rPr lang="en-US" sz="2800" dirty="0"/>
              <a:t>DNS</a:t>
            </a:r>
            <a:r>
              <a:rPr lang="ru-RU" sz="2800" dirty="0"/>
              <a:t>.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На станции </a:t>
            </a:r>
            <a:r>
              <a:rPr lang="en-US" sz="2800" b="1" dirty="0"/>
              <a:t>alt-</a:t>
            </a:r>
            <a:r>
              <a:rPr lang="en-US" sz="2800" b="1" dirty="0" err="1"/>
              <a:t>st</a:t>
            </a:r>
            <a:r>
              <a:rPr lang="en-US" sz="2800" b="1" dirty="0"/>
              <a:t>[</a:t>
            </a:r>
            <a:r>
              <a:rPr lang="en-US" sz="2800" b="1" dirty="0" err="1"/>
              <a:t>i</a:t>
            </a:r>
            <a:r>
              <a:rPr lang="en-US" sz="2800" b="1" dirty="0"/>
              <a:t>]</a:t>
            </a:r>
            <a:r>
              <a:rPr lang="en-US" sz="2800" dirty="0"/>
              <a:t> </a:t>
            </a:r>
            <a:r>
              <a:rPr lang="ru-RU" sz="2800" dirty="0"/>
              <a:t>установить автоматическое получение </a:t>
            </a:r>
            <a:r>
              <a:rPr lang="en-US" sz="2800" dirty="0"/>
              <a:t>IP </a:t>
            </a:r>
            <a:r>
              <a:rPr lang="ru-RU" sz="2800" dirty="0"/>
              <a:t>адреса.</a:t>
            </a:r>
            <a:endParaRPr lang="en-US" sz="2800" dirty="0"/>
          </a:p>
          <a:p>
            <a:pPr indent="457200">
              <a:spcBef>
                <a:spcPts val="0"/>
              </a:spcBef>
            </a:pPr>
            <a:r>
              <a:rPr lang="ru-RU" sz="2800" dirty="0"/>
              <a:t>Открыть каталог </a:t>
            </a:r>
            <a:r>
              <a:rPr lang="ru-RU" sz="2800" dirty="0" err="1"/>
              <a:t>etc</a:t>
            </a:r>
            <a:r>
              <a:rPr lang="ru-RU" sz="2800" dirty="0"/>
              <a:t>/</a:t>
            </a:r>
            <a:r>
              <a:rPr lang="ru-RU" sz="2800" dirty="0" err="1"/>
              <a:t>net</a:t>
            </a:r>
            <a:r>
              <a:rPr lang="ru-RU" sz="2800" dirty="0"/>
              <a:t>/</a:t>
            </a:r>
            <a:r>
              <a:rPr lang="ru-RU" sz="2800" dirty="0" err="1"/>
              <a:t>ifaces</a:t>
            </a:r>
            <a:r>
              <a:rPr lang="ru-RU" sz="2800" dirty="0"/>
              <a:t>/enp0s3</a:t>
            </a:r>
            <a:r>
              <a:rPr lang="en-US" sz="2800" dirty="0"/>
              <a:t>/options</a:t>
            </a:r>
          </a:p>
          <a:p>
            <a:pPr indent="457200">
              <a:spcBef>
                <a:spcPts val="0"/>
              </a:spcBef>
            </a:pPr>
            <a:endParaRPr lang="en-US" sz="2800" dirty="0"/>
          </a:p>
          <a:p>
            <a:pPr indent="457200">
              <a:spcBef>
                <a:spcPts val="0"/>
              </a:spcBef>
            </a:pPr>
            <a:r>
              <a:rPr lang="en-US" sz="2800" dirty="0"/>
              <a:t>NM_CONTROLLED=no</a:t>
            </a:r>
          </a:p>
          <a:p>
            <a:pPr indent="457200">
              <a:spcBef>
                <a:spcPts val="0"/>
              </a:spcBef>
            </a:pPr>
            <a:r>
              <a:rPr lang="en-US" sz="2800" dirty="0"/>
              <a:t>DISABLED=no</a:t>
            </a:r>
          </a:p>
          <a:p>
            <a:pPr indent="457200">
              <a:spcBef>
                <a:spcPts val="0"/>
              </a:spcBef>
            </a:pPr>
            <a:r>
              <a:rPr lang="en-US" sz="2800" dirty="0"/>
              <a:t>BOOTPROTO=</a:t>
            </a:r>
            <a:r>
              <a:rPr lang="en-US" sz="2800" dirty="0" err="1">
                <a:solidFill>
                  <a:srgbClr val="FF0000"/>
                </a:solidFill>
              </a:rPr>
              <a:t>dhcp</a:t>
            </a:r>
            <a:endParaRPr lang="en-US" sz="2800" dirty="0">
              <a:solidFill>
                <a:srgbClr val="FF0000"/>
              </a:solidFill>
            </a:endParaRPr>
          </a:p>
          <a:p>
            <a:pPr indent="457200">
              <a:spcBef>
                <a:spcPts val="0"/>
              </a:spcBef>
            </a:pPr>
            <a:endParaRPr lang="en-US" sz="2800" dirty="0"/>
          </a:p>
          <a:p>
            <a:pPr indent="457200">
              <a:spcBef>
                <a:spcPts val="0"/>
              </a:spcBef>
            </a:pPr>
            <a:r>
              <a:rPr lang="ru-RU" sz="2800" dirty="0"/>
              <a:t>Перезагрузить станцию, чтобы перенастроить сетевой адаптер.</a:t>
            </a: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3419872" y="1268760"/>
            <a:ext cx="3456384" cy="219544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272" y="2636912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endParaRPr lang="en-US" sz="2800" dirty="0"/>
          </a:p>
          <a:p>
            <a:pPr indent="457200">
              <a:spcBef>
                <a:spcPts val="0"/>
              </a:spcBef>
            </a:pPr>
            <a:r>
              <a:rPr lang="ru-RU" sz="2800" dirty="0" smtClean="0">
                <a:solidFill>
                  <a:srgbClr val="FF0000"/>
                </a:solidFill>
              </a:rPr>
              <a:t>Внимание:</a:t>
            </a:r>
            <a:r>
              <a:rPr lang="ru-RU" sz="2800" dirty="0" smtClean="0"/>
              <a:t> </a:t>
            </a:r>
            <a:r>
              <a:rPr lang="ru-RU" sz="2800" i="1" u="sng" dirty="0" smtClean="0"/>
              <a:t>нужно сохранить сделанные изменения в конфигурационном файле</a:t>
            </a:r>
            <a:r>
              <a:rPr lang="ru-RU" sz="2800" i="1" u="sng" dirty="0" smtClean="0"/>
              <a:t>.</a:t>
            </a:r>
            <a:endParaRPr lang="ru-RU" sz="2800" i="1" u="sng" dirty="0"/>
          </a:p>
        </p:txBody>
      </p:sp>
    </p:spTree>
    <p:extLst>
      <p:ext uri="{BB962C8B-B14F-4D97-AF65-F5344CB8AC3E}">
        <p14:creationId xmlns:p14="http://schemas.microsoft.com/office/powerpoint/2010/main" val="214735296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Просмотреть на станции </a:t>
            </a:r>
            <a:r>
              <a:rPr lang="en-US" sz="2800" b="1" dirty="0"/>
              <a:t>alt-</a:t>
            </a:r>
            <a:r>
              <a:rPr lang="en-US" sz="2800" b="1" dirty="0" err="1"/>
              <a:t>st</a:t>
            </a:r>
            <a:r>
              <a:rPr lang="en-US" sz="2800" b="1" dirty="0"/>
              <a:t>[</a:t>
            </a:r>
            <a:r>
              <a:rPr lang="en-US" sz="2800" b="1" dirty="0" err="1"/>
              <a:t>i</a:t>
            </a:r>
            <a:r>
              <a:rPr lang="en-US" sz="2800" b="1" dirty="0"/>
              <a:t>]</a:t>
            </a:r>
            <a:r>
              <a:rPr lang="en-US" sz="2800" dirty="0"/>
              <a:t> </a:t>
            </a:r>
            <a:r>
              <a:rPr lang="ru-RU" sz="2800" dirty="0"/>
              <a:t>настройки сетевого адаптера командой :</a:t>
            </a:r>
          </a:p>
          <a:p>
            <a:pPr indent="457200">
              <a:spcBef>
                <a:spcPts val="0"/>
              </a:spcBef>
            </a:pPr>
            <a:r>
              <a:rPr lang="en-US" sz="2800" b="1" dirty="0" err="1"/>
              <a:t>ip</a:t>
            </a:r>
            <a:r>
              <a:rPr lang="en-US" sz="2800" b="1" dirty="0"/>
              <a:t> </a:t>
            </a:r>
            <a:r>
              <a:rPr lang="en-US" sz="2800" b="1" dirty="0" err="1"/>
              <a:t>addr</a:t>
            </a:r>
            <a:endParaRPr lang="en-US" sz="2800" b="1" dirty="0"/>
          </a:p>
          <a:p>
            <a:pPr indent="457200">
              <a:spcBef>
                <a:spcPts val="0"/>
              </a:spcBef>
            </a:pPr>
            <a:r>
              <a:rPr lang="ru-RU" sz="2800" dirty="0"/>
              <a:t>Сетевой адаптер должен получить самый первый адрес из диапазона адресов:</a:t>
            </a:r>
          </a:p>
          <a:p>
            <a:pPr indent="457200">
              <a:spcBef>
                <a:spcPts val="0"/>
              </a:spcBef>
            </a:pPr>
            <a:r>
              <a:rPr lang="ru-RU" sz="2800" dirty="0"/>
              <a:t>192.168.1.10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656"/>
            <a:ext cx="9191916" cy="3919695"/>
          </a:xfrm>
          <a:prstGeom prst="rect">
            <a:avLst/>
          </a:prstGeom>
        </p:spPr>
      </p:pic>
      <p:cxnSp>
        <p:nvCxnSpPr>
          <p:cNvPr id="4" name="Прямая со стрелкой 3"/>
          <p:cNvCxnSpPr>
            <a:cxnSpLocks/>
          </p:cNvCxnSpPr>
          <p:nvPr/>
        </p:nvCxnSpPr>
        <p:spPr>
          <a:xfrm flipH="1">
            <a:off x="1331640" y="2564904"/>
            <a:ext cx="648072" cy="28803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Выполнить </a:t>
            </a:r>
            <a:r>
              <a:rPr lang="en-US" sz="2800" b="1" dirty="0"/>
              <a:t>ping</a:t>
            </a:r>
            <a:r>
              <a:rPr lang="en-US" sz="2800" dirty="0"/>
              <a:t> </a:t>
            </a:r>
            <a:r>
              <a:rPr lang="ru-RU" sz="2800" dirty="0"/>
              <a:t>рабочей станции </a:t>
            </a:r>
            <a:r>
              <a:rPr lang="en-US" sz="2800" b="1" dirty="0"/>
              <a:t>alt-</a:t>
            </a:r>
            <a:r>
              <a:rPr lang="en-US" sz="2800" b="1" dirty="0" err="1"/>
              <a:t>st</a:t>
            </a:r>
            <a:r>
              <a:rPr lang="en-US" sz="2800" b="1" dirty="0"/>
              <a:t>[</a:t>
            </a:r>
            <a:r>
              <a:rPr lang="en-US" sz="2800" b="1" dirty="0" err="1"/>
              <a:t>i</a:t>
            </a:r>
            <a:r>
              <a:rPr lang="en-US" sz="2800" b="1" dirty="0"/>
              <a:t>]</a:t>
            </a:r>
            <a:r>
              <a:rPr lang="en-US" sz="2800" dirty="0"/>
              <a:t> </a:t>
            </a:r>
            <a:r>
              <a:rPr lang="ru-RU" sz="2800" dirty="0"/>
              <a:t>по её </a:t>
            </a:r>
            <a:r>
              <a:rPr lang="ru-RU" sz="2800" dirty="0" err="1"/>
              <a:t>алиасу</a:t>
            </a:r>
            <a:r>
              <a:rPr lang="ru-RU" sz="2800" dirty="0"/>
              <a:t>. Должны получить: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2726" y="523345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Это означает, что </a:t>
            </a:r>
            <a:r>
              <a:rPr lang="en-US" sz="2800" dirty="0"/>
              <a:t>DNS </a:t>
            </a:r>
            <a:r>
              <a:rPr lang="ru-RU" sz="2800" dirty="0"/>
              <a:t>работает. </a:t>
            </a: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2643174" y="428604"/>
            <a:ext cx="2360874" cy="14162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/>
          <p:cNvGrpSpPr/>
          <p:nvPr/>
        </p:nvGrpSpPr>
        <p:grpSpPr>
          <a:xfrm>
            <a:off x="0" y="1778030"/>
            <a:ext cx="9036496" cy="2893111"/>
            <a:chOff x="0" y="1778030"/>
            <a:chExt cx="9036496" cy="2893111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778030"/>
              <a:ext cx="9036496" cy="2893111"/>
            </a:xfrm>
            <a:prstGeom prst="rect">
              <a:avLst/>
            </a:prstGeom>
          </p:spPr>
        </p:pic>
        <p:sp>
          <p:nvSpPr>
            <p:cNvPr id="8" name="Прямоугольник 7"/>
            <p:cNvSpPr/>
            <p:nvPr/>
          </p:nvSpPr>
          <p:spPr>
            <a:xfrm>
              <a:off x="3153443" y="2226317"/>
              <a:ext cx="1108923" cy="24599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8802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spcBef>
                <a:spcPts val="0"/>
              </a:spcBef>
            </a:pPr>
            <a:r>
              <a:rPr lang="ru-RU" sz="2800" dirty="0"/>
              <a:t>Отчет по лабораторной работе для каждого студента бригады состоит в выполнении одного из пунктов задания (по указанию преподавателя).</a:t>
            </a:r>
          </a:p>
          <a:p>
            <a:pPr indent="457200">
              <a:spcBef>
                <a:spcPts val="0"/>
              </a:spcBef>
            </a:pPr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14198</TotalTime>
  <Words>619</Words>
  <Application>Microsoft Office PowerPoint</Application>
  <PresentationFormat>Экран (4:3)</PresentationFormat>
  <Paragraphs>65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Wingdings</vt:lpstr>
      <vt:lpstr>Arial</vt:lpstr>
      <vt:lpstr>Times New Roman</vt:lpstr>
      <vt:lpstr>1_Палитра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Евгений И. Калиниченко</cp:lastModifiedBy>
  <cp:revision>873</cp:revision>
  <cp:lastPrinted>2002-06-14T06:50:34Z</cp:lastPrinted>
  <dcterms:created xsi:type="dcterms:W3CDTF">2000-07-05T10:59:49Z</dcterms:created>
  <dcterms:modified xsi:type="dcterms:W3CDTF">2026-01-24T12:30:10Z</dcterms:modified>
</cp:coreProperties>
</file>