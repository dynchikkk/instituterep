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>
  <p:sldMasterIdLst>
    <p:sldMasterId id="2147483897" r:id="rId1"/>
  </p:sldMasterIdLst>
  <p:notesMasterIdLst>
    <p:notesMasterId r:id="rId14"/>
  </p:notesMasterIdLst>
  <p:handoutMasterIdLst>
    <p:handoutMasterId r:id="rId15"/>
  </p:handoutMasterIdLst>
  <p:sldIdLst>
    <p:sldId id="480" r:id="rId2"/>
    <p:sldId id="518" r:id="rId3"/>
    <p:sldId id="527" r:id="rId4"/>
    <p:sldId id="528" r:id="rId5"/>
    <p:sldId id="499" r:id="rId6"/>
    <p:sldId id="544" r:id="rId7"/>
    <p:sldId id="441" r:id="rId8"/>
    <p:sldId id="443" r:id="rId9"/>
    <p:sldId id="442" r:id="rId10"/>
    <p:sldId id="445" r:id="rId11"/>
    <p:sldId id="447" r:id="rId12"/>
    <p:sldId id="545" r:id="rId13"/>
  </p:sldIdLst>
  <p:sldSz cx="9144000" cy="6858000" type="screen4x3"/>
  <p:notesSz cx="6669088" cy="9926638"/>
  <p:defaultTextStyle>
    <a:defPPr>
      <a:defRPr lang="ru-RU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6">
          <p15:clr>
            <a:srgbClr val="A4A3A4"/>
          </p15:clr>
        </p15:guide>
        <p15:guide id="2" pos="210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3300"/>
    <a:srgbClr val="7DFBB0"/>
    <a:srgbClr val="8893A0"/>
    <a:srgbClr val="FFD7D7"/>
    <a:srgbClr val="E3FFD9"/>
    <a:srgbClr val="CCFF99"/>
    <a:srgbClr val="F5F391"/>
    <a:srgbClr val="99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24" autoAdjust="0"/>
    <p:restoredTop sz="99515" autoAdjust="0"/>
  </p:normalViewPr>
  <p:slideViewPr>
    <p:cSldViewPr>
      <p:cViewPr varScale="1">
        <p:scale>
          <a:sx n="86" d="100"/>
          <a:sy n="86" d="100"/>
        </p:scale>
        <p:origin x="96" y="6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070"/>
    </p:cViewPr>
  </p:sorterViewPr>
  <p:notesViewPr>
    <p:cSldViewPr>
      <p:cViewPr varScale="1">
        <p:scale>
          <a:sx n="74" d="100"/>
          <a:sy n="74" d="100"/>
        </p:scale>
        <p:origin x="-2184" y="-96"/>
      </p:cViewPr>
      <p:guideLst>
        <p:guide orient="horz" pos="3126"/>
        <p:guide pos="210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78250" y="0"/>
            <a:ext cx="288925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560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78250" y="9428163"/>
            <a:ext cx="2889250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BC483982-D13D-495B-8255-26CD6E6F6F59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2"/>
          </p:nvPr>
        </p:nvSpPr>
        <p:spPr>
          <a:xfrm>
            <a:off x="0" y="9428163"/>
            <a:ext cx="288925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4571516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925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78250" y="0"/>
            <a:ext cx="288925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2595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52488" y="744538"/>
            <a:ext cx="4964112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458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66750" y="4714875"/>
            <a:ext cx="5335588" cy="4467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noProof="0"/>
              <a:t>Образец текста</a:t>
            </a:r>
          </a:p>
          <a:p>
            <a:pPr lvl="1"/>
            <a:r>
              <a:rPr lang="ru-RU" noProof="0"/>
              <a:t>Второй уровень</a:t>
            </a:r>
          </a:p>
          <a:p>
            <a:pPr lvl="2"/>
            <a:r>
              <a:rPr lang="ru-RU" noProof="0"/>
              <a:t>Третий уровень</a:t>
            </a:r>
          </a:p>
          <a:p>
            <a:pPr lvl="3"/>
            <a:r>
              <a:rPr lang="ru-RU" noProof="0"/>
              <a:t>Четвертый уровень</a:t>
            </a:r>
          </a:p>
          <a:p>
            <a:pPr lvl="4"/>
            <a:r>
              <a:rPr lang="ru-RU" noProof="0"/>
              <a:t>Пятый уровень</a:t>
            </a:r>
          </a:p>
        </p:txBody>
      </p:sp>
      <p:sp>
        <p:nvSpPr>
          <p:cNvPr id="2458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8163"/>
            <a:ext cx="2889250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458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78250" y="9428163"/>
            <a:ext cx="2889250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72D661D2-CB43-412C-8931-76ECB7A853BB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35968857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7455E25-F188-44BA-9368-8ACF4EBB63C1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ru-RU"/>
          </a:p>
        </p:txBody>
      </p:sp>
      <p:sp>
        <p:nvSpPr>
          <p:cNvPr id="37893" name="Нижний колонтитул 4"/>
          <p:cNvSpPr>
            <a:spLocks noGrp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45941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7455E25-F188-44BA-9368-8ACF4EBB63C1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ru-RU"/>
          </a:p>
        </p:txBody>
      </p:sp>
      <p:sp>
        <p:nvSpPr>
          <p:cNvPr id="37893" name="Нижний колонтитул 4"/>
          <p:cNvSpPr>
            <a:spLocks noGrp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45941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7455E25-F188-44BA-9368-8ACF4EBB63C1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ru-RU"/>
          </a:p>
        </p:txBody>
      </p:sp>
      <p:sp>
        <p:nvSpPr>
          <p:cNvPr id="37893" name="Нижний колонтитул 4"/>
          <p:cNvSpPr>
            <a:spLocks noGrp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45941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7455E25-F188-44BA-9368-8ACF4EBB63C1}" type="slidenum">
              <a:rPr lang="ru-RU" smtClean="0"/>
              <a:pPr/>
              <a:t>5</a:t>
            </a:fld>
            <a:endParaRPr lang="ru-RU"/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ru-RU"/>
          </a:p>
        </p:txBody>
      </p:sp>
      <p:sp>
        <p:nvSpPr>
          <p:cNvPr id="37893" name="Нижний колонтитул 4"/>
          <p:cNvSpPr>
            <a:spLocks noGrp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45941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7455E25-F188-44BA-9368-8ACF4EBB63C1}" type="slidenum">
              <a:rPr lang="ru-RU" smtClean="0"/>
              <a:pPr/>
              <a:t>6</a:t>
            </a:fld>
            <a:endParaRPr lang="ru-RU"/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ru-RU"/>
          </a:p>
        </p:txBody>
      </p:sp>
      <p:sp>
        <p:nvSpPr>
          <p:cNvPr id="37893" name="Нижний колонтитул 4"/>
          <p:cNvSpPr>
            <a:spLocks noGrp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45941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ru-RU"/>
              <a:t>Образец подзаголовка</a:t>
            </a:r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03265" y="215856"/>
            <a:ext cx="7793037" cy="622300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0"/>
          </p:nvPr>
        </p:nvSpPr>
        <p:spPr>
          <a:xfrm>
            <a:off x="0" y="6492875"/>
            <a:ext cx="1030288" cy="365125"/>
          </a:xfrm>
        </p:spPr>
        <p:txBody>
          <a:bodyPr/>
          <a:lstStyle>
            <a:lvl1pPr>
              <a:defRPr baseline="0">
                <a:solidFill>
                  <a:srgbClr val="8893A0"/>
                </a:solidFill>
              </a:defRPr>
            </a:lvl1pPr>
          </a:lstStyle>
          <a:p>
            <a:pPr>
              <a:defRPr/>
            </a:pPr>
            <a:r>
              <a:rPr lang="ru-RU"/>
              <a:t>РИ-2008</a:t>
            </a:r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323850" y="1052513"/>
            <a:ext cx="4238625" cy="54721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714875" y="1052513"/>
            <a:ext cx="4240213" cy="54721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 userDrawn="1"/>
        </p:nvSpPr>
        <p:spPr>
          <a:xfrm>
            <a:off x="44450" y="6532563"/>
            <a:ext cx="1643063" cy="3381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u-RU" sz="1600" dirty="0">
                <a:solidFill>
                  <a:srgbClr val="0070C0"/>
                </a:solidFill>
              </a:rPr>
              <a:t>РИ-2008</a:t>
            </a: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ru-RU" noProof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797675" y="93663"/>
            <a:ext cx="2157413" cy="6430962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323850" y="93663"/>
            <a:ext cx="6321425" cy="6430962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Only" preserve="1">
  <p:cSld name="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/>
          </p:nvPr>
        </p:nvSpPr>
        <p:spPr>
          <a:xfrm>
            <a:off x="323850" y="93663"/>
            <a:ext cx="8631238" cy="643096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dgm" preserve="1">
  <p:cSld name="Заголовок, схема или организационная диаграмм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50938" y="93663"/>
            <a:ext cx="7793037" cy="622300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SmartArt 2"/>
          <p:cNvSpPr>
            <a:spLocks noGrp="1"/>
          </p:cNvSpPr>
          <p:nvPr>
            <p:ph type="dgm" idx="1"/>
          </p:nvPr>
        </p:nvSpPr>
        <p:spPr>
          <a:xfrm>
            <a:off x="323850" y="1052513"/>
            <a:ext cx="8631238" cy="5472112"/>
          </a:xfrm>
        </p:spPr>
        <p:txBody>
          <a:bodyPr/>
          <a:lstStyle/>
          <a:p>
            <a:pPr lvl="0"/>
            <a:endParaRPr lang="ru-RU" noProof="0"/>
          </a:p>
        </p:txBody>
      </p:sp>
    </p:spTree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OverTx" preserve="1">
  <p:cSld name="Заголовок и объект над текст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50938" y="93663"/>
            <a:ext cx="7793037" cy="622300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323850" y="1052513"/>
            <a:ext cx="8631238" cy="265906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323850" y="3863975"/>
            <a:ext cx="8631238" cy="266065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bl" preserve="1">
  <p:cSld name="Заголовок и таблиц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50938" y="93663"/>
            <a:ext cx="7793037" cy="622300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аблица 2"/>
          <p:cNvSpPr>
            <a:spLocks noGrp="1"/>
          </p:cNvSpPr>
          <p:nvPr>
            <p:ph type="tbl" idx="1"/>
          </p:nvPr>
        </p:nvSpPr>
        <p:spPr>
          <a:xfrm>
            <a:off x="323850" y="1052513"/>
            <a:ext cx="8631238" cy="5472112"/>
          </a:xfrm>
        </p:spPr>
        <p:txBody>
          <a:bodyPr/>
          <a:lstStyle/>
          <a:p>
            <a:pPr lvl="0"/>
            <a:endParaRPr lang="ru-RU" noProof="0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545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93663"/>
            <a:ext cx="7793037" cy="622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ru-RU"/>
              <a:t>Образец заголовка</a:t>
            </a:r>
          </a:p>
        </p:txBody>
      </p:sp>
      <p:sp>
        <p:nvSpPr>
          <p:cNvPr id="5123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323850" y="1052513"/>
            <a:ext cx="8631238" cy="5472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321547" name="Rectangle 11"/>
          <p:cNvSpPr>
            <a:spLocks noChangeArrowheads="1"/>
          </p:cNvSpPr>
          <p:nvPr userDrawn="1"/>
        </p:nvSpPr>
        <p:spPr bwMode="auto">
          <a:xfrm>
            <a:off x="323850" y="6596063"/>
            <a:ext cx="8640763" cy="36512"/>
          </a:xfrm>
          <a:prstGeom prst="rect">
            <a:avLst/>
          </a:prstGeom>
          <a:solidFill>
            <a:srgbClr val="E0E0E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ru-RU"/>
          </a:p>
        </p:txBody>
      </p:sp>
      <p:sp>
        <p:nvSpPr>
          <p:cNvPr id="321548" name="Rectangle 12"/>
          <p:cNvSpPr>
            <a:spLocks noChangeArrowheads="1"/>
          </p:cNvSpPr>
          <p:nvPr userDrawn="1"/>
        </p:nvSpPr>
        <p:spPr bwMode="auto">
          <a:xfrm>
            <a:off x="323850" y="6669088"/>
            <a:ext cx="8640763" cy="36512"/>
          </a:xfrm>
          <a:prstGeom prst="rect">
            <a:avLst/>
          </a:prstGeom>
          <a:solidFill>
            <a:srgbClr val="E0E0E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ru-RU"/>
          </a:p>
        </p:txBody>
      </p:sp>
      <p:sp>
        <p:nvSpPr>
          <p:cNvPr id="321549" name="Rectangle 13"/>
          <p:cNvSpPr>
            <a:spLocks noChangeArrowheads="1"/>
          </p:cNvSpPr>
          <p:nvPr userDrawn="1"/>
        </p:nvSpPr>
        <p:spPr bwMode="auto">
          <a:xfrm>
            <a:off x="323850" y="6740525"/>
            <a:ext cx="8640763" cy="36513"/>
          </a:xfrm>
          <a:prstGeom prst="rect">
            <a:avLst/>
          </a:prstGeom>
          <a:solidFill>
            <a:srgbClr val="E0E0E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ru-RU"/>
          </a:p>
        </p:txBody>
      </p:sp>
      <p:sp>
        <p:nvSpPr>
          <p:cNvPr id="321550" name="Rectangle 14"/>
          <p:cNvSpPr>
            <a:spLocks noChangeArrowheads="1"/>
          </p:cNvSpPr>
          <p:nvPr userDrawn="1"/>
        </p:nvSpPr>
        <p:spPr bwMode="auto">
          <a:xfrm>
            <a:off x="323850" y="6813550"/>
            <a:ext cx="8640763" cy="36513"/>
          </a:xfrm>
          <a:prstGeom prst="rect">
            <a:avLst/>
          </a:prstGeom>
          <a:solidFill>
            <a:srgbClr val="E0E0E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ru-RU"/>
          </a:p>
        </p:txBody>
      </p:sp>
      <p:sp>
        <p:nvSpPr>
          <p:cNvPr id="321552" name="Text Box 16"/>
          <p:cNvSpPr txBox="1">
            <a:spLocks noChangeArrowheads="1"/>
          </p:cNvSpPr>
          <p:nvPr userDrawn="1"/>
        </p:nvSpPr>
        <p:spPr bwMode="auto">
          <a:xfrm>
            <a:off x="7077075" y="6562725"/>
            <a:ext cx="20193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  <a:defRPr/>
            </a:pPr>
            <a:fld id="{AD2A1C4A-0E95-4010-821B-7B4B7286FD9D}" type="slidenum">
              <a:rPr lang="ru-RU" sz="1400" b="1"/>
              <a:pPr algn="r">
                <a:spcBef>
                  <a:spcPct val="50000"/>
                </a:spcBef>
                <a:defRPr/>
              </a:pPr>
              <a:t>‹#›</a:t>
            </a:fld>
            <a:endParaRPr lang="ru-RU" sz="1400" b="1">
              <a:solidFill>
                <a:srgbClr val="B2B2B2"/>
              </a:solidFill>
            </a:endParaRPr>
          </a:p>
        </p:txBody>
      </p:sp>
      <p:sp>
        <p:nvSpPr>
          <p:cNvPr id="9" name="Нижний колонтитул 8"/>
          <p:cNvSpPr>
            <a:spLocks noGrp="1"/>
          </p:cNvSpPr>
          <p:nvPr>
            <p:ph type="ftr" sz="quarter" idx="3"/>
          </p:nvPr>
        </p:nvSpPr>
        <p:spPr>
          <a:xfrm>
            <a:off x="0" y="6492875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0070C0"/>
                </a:solidFill>
              </a:defRPr>
            </a:lvl1pPr>
          </a:lstStyle>
          <a:p>
            <a:pPr>
              <a:defRPr/>
            </a:pPr>
            <a:r>
              <a:rPr lang="ru-RU"/>
              <a:t>РИ-2008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94" r:id="rId1"/>
    <p:sldLayoutId id="2147484095" r:id="rId2"/>
    <p:sldLayoutId id="2147484096" r:id="rId3"/>
    <p:sldLayoutId id="2147484097" r:id="rId4"/>
    <p:sldLayoutId id="2147484098" r:id="rId5"/>
    <p:sldLayoutId id="2147484099" r:id="rId6"/>
    <p:sldLayoutId id="2147484100" r:id="rId7"/>
    <p:sldLayoutId id="2147484101" r:id="rId8"/>
    <p:sldLayoutId id="2147484102" r:id="rId9"/>
    <p:sldLayoutId id="2147484103" r:id="rId10"/>
    <p:sldLayoutId id="2147484104" r:id="rId11"/>
    <p:sldLayoutId id="2147484105" r:id="rId12"/>
    <p:sldLayoutId id="2147484106" r:id="rId13"/>
    <p:sldLayoutId id="2147484107" r:id="rId14"/>
    <p:sldLayoutId id="2147484108" r:id="rId15"/>
  </p:sldLayoutIdLst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1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1545" grpId="0"/>
    </p:bldLst>
  </p:timing>
  <p:hf sldNum="0"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Содержимое 1"/>
          <p:cNvSpPr>
            <a:spLocks noGrp="1"/>
          </p:cNvSpPr>
          <p:nvPr>
            <p:ph/>
          </p:nvPr>
        </p:nvSpPr>
        <p:spPr>
          <a:xfrm>
            <a:off x="0" y="1785926"/>
            <a:ext cx="9143999" cy="2428892"/>
          </a:xfrm>
        </p:spPr>
        <p:txBody>
          <a:bodyPr/>
          <a:lstStyle/>
          <a:p>
            <a:pPr marL="0" indent="0" algn="ctr">
              <a:buNone/>
            </a:pPr>
            <a:r>
              <a:rPr lang="ru-RU" sz="3600" b="1" dirty="0"/>
              <a:t>Лабораторная работа №7</a:t>
            </a:r>
            <a:endParaRPr lang="en-US" sz="3600" b="1" dirty="0"/>
          </a:p>
          <a:p>
            <a:pPr algn="ctr">
              <a:buNone/>
            </a:pPr>
            <a:r>
              <a:rPr lang="ru-RU" sz="3600" b="1" dirty="0"/>
              <a:t>Настройка доступа при интерактивном и при  сетевом входе на рабочую станцию в файловой системе </a:t>
            </a:r>
            <a:r>
              <a:rPr lang="en-US" sz="3600" b="1" dirty="0"/>
              <a:t>NTFS</a:t>
            </a:r>
            <a:endParaRPr lang="ru-RU" sz="3600" b="1" dirty="0"/>
          </a:p>
          <a:p>
            <a:pPr marL="0" indent="0">
              <a:buNone/>
            </a:pPr>
            <a:endParaRPr lang="ru-RU" sz="2000" b="1" dirty="0"/>
          </a:p>
          <a:p>
            <a:pPr marL="0" indent="0" algn="ctr">
              <a:buNone/>
            </a:pPr>
            <a:endParaRPr lang="ru-RU" sz="3600" b="1" dirty="0"/>
          </a:p>
          <a:p>
            <a:pPr marL="0" indent="0">
              <a:buNone/>
            </a:pPr>
            <a:endParaRPr lang="ru-RU" sz="3600" kern="1200" dirty="0">
              <a:latin typeface="Arial" charset="0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ext Box 34"/>
          <p:cNvSpPr txBox="1">
            <a:spLocks noChangeArrowheads="1"/>
          </p:cNvSpPr>
          <p:nvPr/>
        </p:nvSpPr>
        <p:spPr bwMode="auto">
          <a:xfrm>
            <a:off x="0" y="0"/>
            <a:ext cx="9144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marR="0" lvl="0" indent="45720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1" i="0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Настройка доступа к файлам и папкам при интерактивном входе на рабочую станцию</a:t>
            </a:r>
          </a:p>
          <a:p>
            <a:pPr marL="0" marR="0" lvl="0" indent="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ru-RU" sz="2800" b="1" u="sng" dirty="0">
              <a:solidFill>
                <a:srgbClr val="000000"/>
              </a:solidFill>
            </a:endParaRPr>
          </a:p>
          <a:p>
            <a:pPr marL="0" marR="0" lvl="0" indent="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1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Цель работы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 Научит</a:t>
            </a:r>
            <a:r>
              <a:rPr lang="ru-RU" sz="2800" dirty="0">
                <a:solidFill>
                  <a:srgbClr val="000000"/>
                </a:solidFill>
              </a:rPr>
              <a:t>ь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ся настраивать доступ к файлам и папкам при интерактивном входе на рабочую станцию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Times New Roman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11408292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ext Box 34"/>
          <p:cNvSpPr txBox="1">
            <a:spLocks noChangeArrowheads="1"/>
          </p:cNvSpPr>
          <p:nvPr/>
        </p:nvSpPr>
        <p:spPr bwMode="auto">
          <a:xfrm>
            <a:off x="0" y="0"/>
            <a:ext cx="9144000" cy="31085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marR="0" lvl="0" indent="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Times New Roman" pitchFamily="18" charset="0"/>
              </a:rPr>
              <a:t>Управлением доступом к файлам и папкам пользователями рабочей станции делает администратор станции или домена. Теми файлами и папками, которые создает сам пользователь, он может управлять сам.</a:t>
            </a:r>
          </a:p>
          <a:p>
            <a:pPr marL="0" marR="0" lvl="0" indent="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Times New Roman" pitchFamily="18" charset="0"/>
              </a:rPr>
              <a:t>Для управления делается правый клик мыши на файле/папке - открываем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Times New Roman" pitchFamily="18" charset="0"/>
              </a:rPr>
              <a:t>Свойства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Times New Roman" pitchFamily="18" charset="0"/>
              </a:rPr>
              <a:t> папки:</a:t>
            </a:r>
            <a:endParaRPr kumimoji="0" lang="ru-RU" sz="2800" b="0" i="1" u="sng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Times New Roman" pitchFamily="18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9632" y="3108543"/>
            <a:ext cx="5072606" cy="3745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6" name="Прямая со стрелкой 5"/>
          <p:cNvCxnSpPr>
            <a:cxnSpLocks/>
          </p:cNvCxnSpPr>
          <p:nvPr/>
        </p:nvCxnSpPr>
        <p:spPr>
          <a:xfrm flipH="1">
            <a:off x="4572000" y="3108543"/>
            <a:ext cx="576064" cy="2336681"/>
          </a:xfrm>
          <a:prstGeom prst="straightConnector1">
            <a:avLst/>
          </a:prstGeom>
          <a:ln w="22225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1337022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ext Box 34"/>
          <p:cNvSpPr txBox="1">
            <a:spLocks noChangeArrowheads="1"/>
          </p:cNvSpPr>
          <p:nvPr/>
        </p:nvSpPr>
        <p:spPr bwMode="auto">
          <a:xfrm>
            <a:off x="0" y="0"/>
            <a:ext cx="9144000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marR="0" lvl="0" indent="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Times New Roman" pitchFamily="18" charset="0"/>
              </a:rPr>
              <a:t>Для управления доступом при интерактивном входе используется вкладка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Times New Roman" pitchFamily="18" charset="0"/>
              </a:rPr>
              <a:t>Безопасность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Times New Roman" pitchFamily="18" charset="0"/>
              </a:rPr>
              <a:t>. </a:t>
            </a:r>
            <a:endParaRPr kumimoji="0" lang="ru-RU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Times New Roman" pitchFamily="18" charset="0"/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195736" y="1844823"/>
            <a:ext cx="3559836" cy="45035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5" name="Прямая со стрелкой 4"/>
          <p:cNvCxnSpPr>
            <a:cxnSpLocks/>
          </p:cNvCxnSpPr>
          <p:nvPr/>
        </p:nvCxnSpPr>
        <p:spPr>
          <a:xfrm flipH="1">
            <a:off x="3851920" y="836712"/>
            <a:ext cx="1512168" cy="1368152"/>
          </a:xfrm>
          <a:prstGeom prst="straightConnector1">
            <a:avLst/>
          </a:prstGeom>
          <a:ln w="22225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7337610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ext Box 34"/>
          <p:cNvSpPr txBox="1">
            <a:spLocks noChangeArrowheads="1"/>
          </p:cNvSpPr>
          <p:nvPr/>
        </p:nvSpPr>
        <p:spPr bwMode="auto">
          <a:xfrm>
            <a:off x="0" y="0"/>
            <a:ext cx="9144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indent="457200" algn="ctr"/>
            <a:r>
              <a:rPr lang="ru-RU" sz="2400" b="1" dirty="0"/>
              <a:t>Настройка доступа к файлам и папкам при сетевом обращении к рабочей станции</a:t>
            </a:r>
            <a:endParaRPr lang="ru-RU" sz="2400" b="1" u="sng" dirty="0"/>
          </a:p>
          <a:p>
            <a:pPr indent="457200"/>
            <a:endParaRPr lang="ru-RU" sz="2800" b="1" u="sng" dirty="0"/>
          </a:p>
          <a:p>
            <a:pPr indent="457200"/>
            <a:r>
              <a:rPr lang="ru-RU" sz="2800" b="1" u="sng" dirty="0"/>
              <a:t>Цель работы</a:t>
            </a:r>
            <a:r>
              <a:rPr lang="ru-RU" sz="2800" dirty="0"/>
              <a:t> научиться</a:t>
            </a:r>
            <a:r>
              <a:rPr lang="ru-RU" sz="2800" b="1" dirty="0">
                <a:cs typeface="Times New Roman" pitchFamily="18" charset="0"/>
              </a:rPr>
              <a:t> </a:t>
            </a:r>
            <a:r>
              <a:rPr lang="ru-RU" sz="2800" dirty="0">
                <a:cs typeface="Times New Roman" pitchFamily="18" charset="0"/>
              </a:rPr>
              <a:t>создавать общий ресурс.</a:t>
            </a:r>
          </a:p>
          <a:p>
            <a:pPr indent="457200"/>
            <a:endParaRPr lang="ru-RU" sz="2800" dirty="0">
              <a:cs typeface="Times New Roman" pitchFamily="18" charset="0"/>
            </a:endParaRPr>
          </a:p>
          <a:p>
            <a:pPr indent="457200"/>
            <a:endParaRPr lang="ru-RU" sz="2800" dirty="0">
              <a:cs typeface="Times New Roman" pitchFamily="18" charset="0"/>
            </a:endParaRPr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ext Box 34"/>
          <p:cNvSpPr txBox="1">
            <a:spLocks noChangeArrowheads="1"/>
          </p:cNvSpPr>
          <p:nvPr/>
        </p:nvSpPr>
        <p:spPr bwMode="auto">
          <a:xfrm>
            <a:off x="0" y="0"/>
            <a:ext cx="9144000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marR="0" lvl="0" indent="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Times New Roman" pitchFamily="18" charset="0"/>
              </a:rPr>
              <a:t>Для управления доступом при интерактивном входе используется вкладка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Times New Roman" pitchFamily="18" charset="0"/>
              </a:rPr>
              <a:t>Доступ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Times New Roman" pitchFamily="18" charset="0"/>
              </a:rPr>
              <a:t>. </a:t>
            </a:r>
            <a:endParaRPr kumimoji="0" lang="ru-RU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Times New Roman" pitchFamily="18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75C0A24-B480-4794-A636-BC5CB84BE8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9835" y="1916832"/>
            <a:ext cx="3409950" cy="4676775"/>
          </a:xfrm>
          <a:prstGeom prst="rect">
            <a:avLst/>
          </a:prstGeom>
        </p:spPr>
      </p:pic>
      <p:cxnSp>
        <p:nvCxnSpPr>
          <p:cNvPr id="4" name="Прямая со стрелкой 3"/>
          <p:cNvCxnSpPr>
            <a:cxnSpLocks/>
          </p:cNvCxnSpPr>
          <p:nvPr/>
        </p:nvCxnSpPr>
        <p:spPr>
          <a:xfrm flipH="1">
            <a:off x="4283968" y="836712"/>
            <a:ext cx="1080120" cy="1656184"/>
          </a:xfrm>
          <a:prstGeom prst="straightConnector1">
            <a:avLst/>
          </a:prstGeom>
          <a:ln w="22225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Содержимое 1"/>
          <p:cNvSpPr>
            <a:spLocks noGrp="1"/>
          </p:cNvSpPr>
          <p:nvPr>
            <p:ph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marL="0" indent="0" algn="ctr">
              <a:buNone/>
            </a:pPr>
            <a:r>
              <a:rPr lang="ru-RU" sz="2400" b="1" dirty="0"/>
              <a:t>Настройка безопасности папок </a:t>
            </a:r>
            <a:r>
              <a:rPr lang="ru-RU" sz="1800" dirty="0"/>
              <a:t>(</a:t>
            </a:r>
            <a:r>
              <a:rPr lang="ru-RU" sz="2400" i="1" u="sng" dirty="0"/>
              <a:t>права, получаемые при интерактивном входе</a:t>
            </a:r>
            <a:r>
              <a:rPr lang="ru-RU" sz="2400" b="1" dirty="0"/>
              <a:t>). Настройка общего доступа к папкам </a:t>
            </a:r>
            <a:r>
              <a:rPr lang="ru-RU" sz="1800" dirty="0"/>
              <a:t>(</a:t>
            </a:r>
            <a:r>
              <a:rPr lang="ru-RU" sz="2400" i="1" u="sng" dirty="0"/>
              <a:t>права, получаемые при сетевом доступе</a:t>
            </a:r>
            <a:r>
              <a:rPr lang="ru-RU" sz="2400" b="1" dirty="0"/>
              <a:t>)</a:t>
            </a:r>
            <a:endParaRPr lang="en-US" sz="2400" b="1" dirty="0"/>
          </a:p>
          <a:p>
            <a:pPr marL="0" indent="0" algn="ctr">
              <a:buNone/>
            </a:pPr>
            <a:r>
              <a:rPr lang="ru-RU" sz="2000" b="1" dirty="0"/>
              <a:t>(Литература №</a:t>
            </a:r>
            <a:r>
              <a:rPr lang="en-US" sz="2000" b="1" dirty="0"/>
              <a:t>3</a:t>
            </a:r>
            <a:r>
              <a:rPr lang="ru-RU" sz="2000" b="1" dirty="0"/>
              <a:t>, стр. 143-168)</a:t>
            </a:r>
            <a:endParaRPr lang="ru-RU" sz="2000" b="1" u="sng" dirty="0"/>
          </a:p>
          <a:p>
            <a:pPr marL="0" indent="0" algn="ctr">
              <a:buNone/>
            </a:pPr>
            <a:endParaRPr lang="en-US" sz="800" dirty="0"/>
          </a:p>
          <a:p>
            <a:pPr marL="0" indent="0">
              <a:buNone/>
            </a:pPr>
            <a:r>
              <a:rPr lang="ru-RU" sz="2000" dirty="0"/>
              <a:t>Изучить по рекомендуемой литературе:</a:t>
            </a:r>
          </a:p>
          <a:p>
            <a:pPr marL="0" indent="0">
              <a:buClr>
                <a:schemeClr val="tx1"/>
              </a:buClr>
              <a:buSzPct val="100000"/>
              <a:buFont typeface="Wingdings" pitchFamily="2" charset="2"/>
              <a:buChar char="§"/>
            </a:pPr>
            <a:r>
              <a:rPr lang="ru-RU" sz="2000" dirty="0"/>
              <a:t>какие есть разрешения файловой системы (безопасности) и их назначение;</a:t>
            </a:r>
          </a:p>
          <a:p>
            <a:pPr marL="0" indent="0">
              <a:buClr>
                <a:schemeClr val="tx1"/>
              </a:buClr>
              <a:buSzPct val="100000"/>
              <a:buFont typeface="Wingdings" pitchFamily="2" charset="2"/>
              <a:buChar char="§"/>
            </a:pPr>
            <a:r>
              <a:rPr lang="ru-RU" sz="2000" dirty="0"/>
              <a:t> работу с редактором  таблицы управления доступом (</a:t>
            </a:r>
            <a:r>
              <a:rPr lang="en-US" sz="2000" dirty="0" err="1"/>
              <a:t>AccessControlList</a:t>
            </a:r>
            <a:r>
              <a:rPr lang="en-US" sz="2000" dirty="0"/>
              <a:t>- ACL</a:t>
            </a:r>
            <a:r>
              <a:rPr lang="ru-RU" sz="2000" dirty="0"/>
              <a:t>) - добавление и удаление разрешений, изменение установленных разрешений;</a:t>
            </a:r>
          </a:p>
          <a:p>
            <a:pPr marL="0" indent="0">
              <a:buClr>
                <a:schemeClr val="tx1"/>
              </a:buClr>
              <a:buSzPct val="100000"/>
              <a:buFont typeface="Wingdings" pitchFamily="2" charset="2"/>
              <a:buChar char="§"/>
            </a:pPr>
            <a:r>
              <a:rPr lang="ru-RU" sz="2000" dirty="0"/>
              <a:t>шаблоны разрешений и особые разрешения;</a:t>
            </a:r>
          </a:p>
          <a:p>
            <a:pPr marL="0" indent="0">
              <a:buClr>
                <a:schemeClr val="tx1"/>
              </a:buClr>
              <a:buSzPct val="100000"/>
              <a:buFont typeface="Wingdings" pitchFamily="2" charset="2"/>
              <a:buChar char="§"/>
            </a:pPr>
            <a:r>
              <a:rPr lang="ru-RU" sz="2000" dirty="0"/>
              <a:t>наследование, перекрытие наследования, восстановление наследования;</a:t>
            </a:r>
          </a:p>
          <a:p>
            <a:pPr marL="0" indent="0">
              <a:buClr>
                <a:schemeClr val="tx1"/>
              </a:buClr>
              <a:buSzPct val="100000"/>
              <a:buFont typeface="Wingdings" pitchFamily="2" charset="2"/>
              <a:buChar char="§"/>
            </a:pPr>
            <a:r>
              <a:rPr lang="ru-RU" sz="2000" dirty="0"/>
              <a:t>действующие разрешения, определение действующих разрешений;</a:t>
            </a:r>
          </a:p>
          <a:p>
            <a:pPr marL="0" indent="0">
              <a:buClr>
                <a:schemeClr val="tx1"/>
              </a:buClr>
              <a:buSzPct val="100000"/>
              <a:buFont typeface="Wingdings" pitchFamily="2" charset="2"/>
              <a:buChar char="§"/>
            </a:pPr>
            <a:r>
              <a:rPr lang="ru-RU" sz="2000" dirty="0"/>
              <a:t>права владения ресурсом, создатель-владелец ресурса, право владения ресурсом</a:t>
            </a:r>
          </a:p>
          <a:p>
            <a:pPr marL="0" indent="0">
              <a:buClr>
                <a:schemeClr val="tx1"/>
              </a:buClr>
              <a:buSzPct val="100000"/>
              <a:buFont typeface="Wingdings" pitchFamily="2" charset="2"/>
              <a:buChar char="§"/>
            </a:pPr>
            <a:r>
              <a:rPr lang="ru-RU" sz="2000" dirty="0"/>
              <a:t>настройка разрешений общих папок.</a:t>
            </a:r>
            <a:endParaRPr lang="ru-RU" sz="2000" b="1" u="sng" dirty="0"/>
          </a:p>
        </p:txBody>
      </p:sp>
    </p:spTree>
    <p:extLst>
      <p:ext uri="{BB962C8B-B14F-4D97-AF65-F5344CB8AC3E}">
        <p14:creationId xmlns:p14="http://schemas.microsoft.com/office/powerpoint/2010/main" val="1039327193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Содержимое 1"/>
          <p:cNvSpPr>
            <a:spLocks noGrp="1"/>
          </p:cNvSpPr>
          <p:nvPr>
            <p:ph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marL="0" indent="0">
              <a:buNone/>
            </a:pPr>
            <a:endParaRPr lang="ru-RU" sz="2000" dirty="0"/>
          </a:p>
          <a:p>
            <a:pPr marL="0" indent="0">
              <a:buNone/>
            </a:pPr>
            <a:r>
              <a:rPr lang="ru-RU" sz="2000" b="1" dirty="0"/>
              <a:t> Задание на работу по настройке безопасности папок :</a:t>
            </a:r>
          </a:p>
          <a:p>
            <a:pPr>
              <a:buClr>
                <a:schemeClr val="tx1"/>
              </a:buClr>
              <a:buSzPct val="100000"/>
              <a:buFont typeface="+mj-lt"/>
              <a:buAutoNum type="arabicPeriod"/>
            </a:pPr>
            <a:r>
              <a:rPr lang="ru-RU" sz="2000" dirty="0"/>
              <a:t>Создать на каждой рабочей станции папку, не менее 3-го уровня вложенности относительно корня диска. Обозначить их </a:t>
            </a:r>
            <a:r>
              <a:rPr lang="en-US" sz="2000" b="1" dirty="0"/>
              <a:t>station1 (</a:t>
            </a:r>
            <a:r>
              <a:rPr lang="ru-RU" sz="2000" dirty="0"/>
              <a:t>на станции</a:t>
            </a:r>
            <a:r>
              <a:rPr lang="en-US" sz="2000" dirty="0"/>
              <a:t> 1</a:t>
            </a:r>
            <a:r>
              <a:rPr lang="en-US" sz="2000" b="1" dirty="0"/>
              <a:t>)</a:t>
            </a:r>
            <a:r>
              <a:rPr lang="ru-RU" sz="2000" dirty="0"/>
              <a:t> и </a:t>
            </a:r>
            <a:r>
              <a:rPr lang="en-US" sz="2000" b="1" dirty="0"/>
              <a:t>station2</a:t>
            </a:r>
            <a:r>
              <a:rPr lang="ru-RU" sz="2000" dirty="0"/>
              <a:t> </a:t>
            </a:r>
            <a:r>
              <a:rPr lang="en-US" sz="2000" b="1" dirty="0"/>
              <a:t>(</a:t>
            </a:r>
            <a:r>
              <a:rPr lang="ru-RU" sz="2000" dirty="0"/>
              <a:t>на станции</a:t>
            </a:r>
            <a:r>
              <a:rPr lang="en-US" sz="2000" dirty="0"/>
              <a:t> </a:t>
            </a:r>
            <a:r>
              <a:rPr lang="ru-RU" sz="2000" dirty="0"/>
              <a:t>2</a:t>
            </a:r>
            <a:r>
              <a:rPr lang="en-US" sz="2000" b="1" dirty="0"/>
              <a:t>)</a:t>
            </a:r>
            <a:r>
              <a:rPr lang="ru-RU" sz="2000" dirty="0"/>
              <a:t>.</a:t>
            </a:r>
            <a:endParaRPr lang="en-US" sz="2000" dirty="0"/>
          </a:p>
          <a:p>
            <a:pPr>
              <a:buClr>
                <a:schemeClr val="tx1"/>
              </a:buClr>
              <a:buSzPct val="100000"/>
              <a:buFont typeface="+mj-lt"/>
              <a:buAutoNum type="arabicPeriod"/>
            </a:pPr>
            <a:r>
              <a:rPr lang="ru-RU" sz="2000" dirty="0"/>
              <a:t>Для папки </a:t>
            </a:r>
            <a:r>
              <a:rPr lang="en-US" sz="2000" b="1" dirty="0"/>
              <a:t>station1</a:t>
            </a:r>
            <a:r>
              <a:rPr lang="ru-RU" sz="2000" b="1" dirty="0"/>
              <a:t> </a:t>
            </a:r>
            <a:r>
              <a:rPr lang="ru-RU" sz="2000" dirty="0"/>
              <a:t>с правами администратора домена установить следующие разрешения безопасности при интерактивном входе на станцию 1:</a:t>
            </a:r>
          </a:p>
          <a:p>
            <a:pPr>
              <a:buClr>
                <a:schemeClr val="tx1"/>
              </a:buClr>
              <a:buSzPct val="100000"/>
              <a:buFont typeface="Wingdings" pitchFamily="2" charset="2"/>
              <a:buChar char="Ø"/>
            </a:pPr>
            <a:r>
              <a:rPr lang="ru-RU" sz="2000" dirty="0"/>
              <a:t>убрать наследование разрешений от корня диска;</a:t>
            </a:r>
          </a:p>
          <a:p>
            <a:pPr>
              <a:buClr>
                <a:schemeClr val="tx1"/>
              </a:buClr>
              <a:buSzPct val="100000"/>
              <a:buFont typeface="Wingdings" pitchFamily="2" charset="2"/>
              <a:buChar char="Ø"/>
            </a:pPr>
            <a:r>
              <a:rPr lang="ru-RU" sz="2000" dirty="0"/>
              <a:t>сделать для </a:t>
            </a:r>
            <a:r>
              <a:rPr lang="ru-RU" sz="2000" b="1" dirty="0"/>
              <a:t>пользователей домена</a:t>
            </a:r>
            <a:r>
              <a:rPr lang="ru-RU" sz="2000" dirty="0"/>
              <a:t> - права «</a:t>
            </a:r>
            <a:r>
              <a:rPr lang="ru-RU" sz="2000" b="1" dirty="0"/>
              <a:t>Изменение</a:t>
            </a:r>
            <a:r>
              <a:rPr lang="ru-RU" sz="2000" dirty="0"/>
              <a:t>», а для </a:t>
            </a:r>
            <a:r>
              <a:rPr lang="ru-RU" sz="2000" b="1" dirty="0"/>
              <a:t>администраторов домена </a:t>
            </a:r>
            <a:r>
              <a:rPr lang="ru-RU" sz="2000" dirty="0"/>
              <a:t>- права «</a:t>
            </a:r>
            <a:r>
              <a:rPr lang="ru-RU" sz="2000" b="1" dirty="0"/>
              <a:t>Полный доступ</a:t>
            </a:r>
            <a:r>
              <a:rPr lang="ru-RU" sz="2000" dirty="0"/>
              <a:t>»;</a:t>
            </a:r>
          </a:p>
          <a:p>
            <a:pPr>
              <a:buClr>
                <a:schemeClr val="tx1"/>
              </a:buClr>
              <a:buSzPct val="100000"/>
              <a:buFont typeface="Wingdings" pitchFamily="2" charset="2"/>
              <a:buChar char="Ø"/>
            </a:pPr>
            <a:r>
              <a:rPr lang="ru-RU" sz="2000" dirty="0"/>
              <a:t>проверить</a:t>
            </a:r>
            <a:r>
              <a:rPr lang="en-US" sz="2000" dirty="0"/>
              <a:t> </a:t>
            </a:r>
            <a:r>
              <a:rPr lang="ru-RU" sz="2000" dirty="0"/>
              <a:t>результат, поочередно выполнив вход на станцию от имени «</a:t>
            </a:r>
            <a:r>
              <a:rPr lang="ru-RU" sz="2000" b="1" dirty="0"/>
              <a:t>пользователя домена</a:t>
            </a:r>
            <a:r>
              <a:rPr lang="ru-RU" sz="2000" dirty="0"/>
              <a:t>», а затем от  имени «</a:t>
            </a:r>
            <a:r>
              <a:rPr lang="ru-RU" sz="2000" b="1" dirty="0"/>
              <a:t>администратора домена</a:t>
            </a:r>
            <a:r>
              <a:rPr lang="ru-RU" sz="2000" dirty="0"/>
              <a:t>».</a:t>
            </a:r>
          </a:p>
        </p:txBody>
      </p:sp>
    </p:spTree>
    <p:extLst>
      <p:ext uri="{BB962C8B-B14F-4D97-AF65-F5344CB8AC3E}">
        <p14:creationId xmlns:p14="http://schemas.microsoft.com/office/powerpoint/2010/main" val="1276822962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Содержимое 1"/>
          <p:cNvSpPr>
            <a:spLocks noGrp="1"/>
          </p:cNvSpPr>
          <p:nvPr>
            <p:ph/>
          </p:nvPr>
        </p:nvSpPr>
        <p:spPr>
          <a:xfrm>
            <a:off x="0" y="0"/>
            <a:ext cx="9144000" cy="6430962"/>
          </a:xfrm>
        </p:spPr>
        <p:txBody>
          <a:bodyPr/>
          <a:lstStyle/>
          <a:p>
            <a:pPr>
              <a:buClr>
                <a:schemeClr val="tx1"/>
              </a:buClr>
              <a:buSzPct val="100000"/>
              <a:buFont typeface="+mj-lt"/>
              <a:buAutoNum type="arabicPeriod" startAt="3"/>
            </a:pPr>
            <a:r>
              <a:rPr lang="ru-RU" sz="2000" dirty="0"/>
              <a:t>Для папки </a:t>
            </a:r>
            <a:r>
              <a:rPr lang="en-US" sz="2000" b="1" dirty="0"/>
              <a:t>station2</a:t>
            </a:r>
            <a:r>
              <a:rPr lang="ru-RU" sz="2000" dirty="0"/>
              <a:t> с правами администратора домена установить следующие разрешения безопасности при интерактивном входе на компьютер:</a:t>
            </a:r>
          </a:p>
          <a:p>
            <a:pPr>
              <a:buClr>
                <a:schemeClr val="tx1"/>
              </a:buClr>
              <a:buSzPct val="100000"/>
              <a:buFont typeface="Wingdings" pitchFamily="2" charset="2"/>
              <a:buChar char="Ø"/>
            </a:pPr>
            <a:r>
              <a:rPr lang="ru-RU" sz="2000" dirty="0"/>
              <a:t>убрать наследование разрешений от корня диска;</a:t>
            </a:r>
          </a:p>
          <a:p>
            <a:pPr>
              <a:buClr>
                <a:schemeClr val="tx1"/>
              </a:buClr>
              <a:buSzPct val="100000"/>
              <a:buFont typeface="Wingdings" pitchFamily="2" charset="2"/>
              <a:buChar char="Ø"/>
            </a:pPr>
            <a:r>
              <a:rPr lang="ru-RU" sz="2000" dirty="0"/>
              <a:t>для «</a:t>
            </a:r>
            <a:r>
              <a:rPr lang="ru-RU" sz="2000" b="1" dirty="0"/>
              <a:t>пользователя домена</a:t>
            </a:r>
            <a:r>
              <a:rPr lang="ru-RU" sz="2000" dirty="0"/>
              <a:t>»(каких, по вашему выбору) предоставить право «</a:t>
            </a:r>
            <a:r>
              <a:rPr lang="ru-RU" sz="2000" b="1" dirty="0"/>
              <a:t>Полный доступ</a:t>
            </a:r>
            <a:r>
              <a:rPr lang="ru-RU" sz="2000" dirty="0"/>
              <a:t>».</a:t>
            </a:r>
          </a:p>
          <a:p>
            <a:pPr>
              <a:buClr>
                <a:schemeClr val="tx1"/>
              </a:buClr>
              <a:buSzPct val="100000"/>
              <a:buFont typeface="Wingdings" pitchFamily="2" charset="2"/>
              <a:buChar char="Ø"/>
            </a:pPr>
            <a:endParaRPr lang="ru-RU" sz="2000" dirty="0"/>
          </a:p>
          <a:p>
            <a:pPr>
              <a:buClr>
                <a:schemeClr val="tx1"/>
              </a:buClr>
              <a:buSzPct val="100000"/>
              <a:buFont typeface="+mj-lt"/>
              <a:buAutoNum type="arabicPeriod" startAt="4"/>
            </a:pPr>
            <a:r>
              <a:rPr lang="ru-RU" sz="2000" dirty="0"/>
              <a:t>Выполнить вход на станцию от имени этого пользователя и предоставить другому пользователю домена все права, начиная от «</a:t>
            </a:r>
            <a:r>
              <a:rPr lang="ru-RU" sz="2000" b="1" dirty="0"/>
              <a:t>Запись</a:t>
            </a:r>
            <a:r>
              <a:rPr lang="ru-RU" sz="2000" dirty="0"/>
              <a:t>» на эту папку. Проверить.</a:t>
            </a:r>
          </a:p>
          <a:p>
            <a:pPr>
              <a:buClr>
                <a:schemeClr val="tx1"/>
              </a:buClr>
              <a:buSzPct val="100000"/>
              <a:buFont typeface="+mj-lt"/>
              <a:buAutoNum type="arabicPeriod" startAt="4"/>
            </a:pPr>
            <a:endParaRPr lang="ru-RU" sz="2000" dirty="0"/>
          </a:p>
          <a:p>
            <a:pPr>
              <a:buClr>
                <a:schemeClr val="tx1"/>
              </a:buClr>
              <a:buSzPct val="100000"/>
              <a:buFont typeface="+mj-lt"/>
              <a:buAutoNum type="arabicPeriod" startAt="4"/>
            </a:pPr>
            <a:r>
              <a:rPr lang="ru-RU" sz="2000" dirty="0"/>
              <a:t>Предоставить конкретному пользователю домена право, начиная от «</a:t>
            </a:r>
            <a:r>
              <a:rPr lang="ru-RU" sz="2000" b="1" dirty="0"/>
              <a:t>Чтение</a:t>
            </a:r>
            <a:r>
              <a:rPr lang="ru-RU" sz="2000" dirty="0"/>
              <a:t>" к папке </a:t>
            </a:r>
            <a:r>
              <a:rPr lang="en-US" sz="2000" b="1" dirty="0"/>
              <a:t>station</a:t>
            </a:r>
            <a:r>
              <a:rPr lang="ru-RU" sz="2000" b="1" dirty="0"/>
              <a:t>2  </a:t>
            </a:r>
            <a:r>
              <a:rPr lang="ru-RU" sz="2000" dirty="0"/>
              <a:t>через его членство в группе. Проверить.</a:t>
            </a:r>
          </a:p>
          <a:p>
            <a:pPr marL="0" indent="0">
              <a:buClr>
                <a:schemeClr val="tx1"/>
              </a:buClr>
              <a:buSzPct val="100000"/>
              <a:buNone/>
            </a:pP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95604215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Содержимое 1"/>
          <p:cNvSpPr>
            <a:spLocks noGrp="1"/>
          </p:cNvSpPr>
          <p:nvPr>
            <p:ph/>
          </p:nvPr>
        </p:nvSpPr>
        <p:spPr>
          <a:xfrm>
            <a:off x="0" y="0"/>
            <a:ext cx="9144000" cy="6430962"/>
          </a:xfrm>
        </p:spPr>
        <p:txBody>
          <a:bodyPr/>
          <a:lstStyle/>
          <a:p>
            <a:pPr marL="0" indent="0">
              <a:buClr>
                <a:schemeClr val="tx1"/>
              </a:buClr>
              <a:buSzPct val="100000"/>
              <a:buNone/>
            </a:pPr>
            <a:r>
              <a:rPr lang="ru-RU" sz="2000" dirty="0"/>
              <a:t>6. Предоставить другому конкретному пользователю домена право, начиная от «</a:t>
            </a:r>
            <a:r>
              <a:rPr lang="ru-RU" sz="2000" b="1" dirty="0"/>
              <a:t>Изменение</a:t>
            </a:r>
            <a:r>
              <a:rPr lang="ru-RU" sz="2000" dirty="0"/>
              <a:t>" к папке </a:t>
            </a:r>
            <a:r>
              <a:rPr lang="en-US" sz="2000" b="1" dirty="0"/>
              <a:t>station</a:t>
            </a:r>
            <a:r>
              <a:rPr lang="ru-RU" sz="2000" b="1" dirty="0"/>
              <a:t>2  </a:t>
            </a:r>
            <a:r>
              <a:rPr lang="ru-RU" sz="2000" dirty="0"/>
              <a:t>через его членство в группе. Проверить.</a:t>
            </a:r>
          </a:p>
          <a:p>
            <a:pPr marL="0" indent="0">
              <a:buClr>
                <a:schemeClr val="tx1"/>
              </a:buClr>
              <a:buSzPct val="100000"/>
              <a:buNone/>
            </a:pPr>
            <a:endParaRPr lang="ru-RU" sz="2000" dirty="0"/>
          </a:p>
          <a:p>
            <a:pPr marL="0" indent="0">
              <a:buClr>
                <a:schemeClr val="tx1"/>
              </a:buClr>
              <a:buSzPct val="100000"/>
              <a:buNone/>
            </a:pPr>
            <a:r>
              <a:rPr lang="ru-RU" sz="2000" dirty="0"/>
              <a:t>7. Сделать "</a:t>
            </a:r>
            <a:r>
              <a:rPr lang="ru-RU" sz="2000" b="1" dirty="0"/>
              <a:t>владельцем</a:t>
            </a:r>
            <a:r>
              <a:rPr lang="ru-RU" sz="2000" dirty="0"/>
              <a:t>" подпапки </a:t>
            </a:r>
            <a:r>
              <a:rPr lang="en-US" sz="2000" b="1" dirty="0"/>
              <a:t>station1</a:t>
            </a:r>
            <a:r>
              <a:rPr lang="ru-RU" sz="2000" b="1" dirty="0"/>
              <a:t> </a:t>
            </a:r>
            <a:r>
              <a:rPr lang="ru-RU" sz="2000" dirty="0"/>
              <a:t>конкретного пользователя домена. Проверить (может ли он менять разрешения безопасности этой папки).</a:t>
            </a:r>
          </a:p>
          <a:p>
            <a:pPr marL="0" indent="0">
              <a:buClr>
                <a:schemeClr val="tx1"/>
              </a:buClr>
              <a:buSzPct val="100000"/>
              <a:buNone/>
            </a:pPr>
            <a:endParaRPr lang="ru-RU" sz="2000" dirty="0"/>
          </a:p>
          <a:p>
            <a:pPr marL="0" indent="0">
              <a:buClr>
                <a:schemeClr val="tx1"/>
              </a:buClr>
              <a:buSzPct val="100000"/>
              <a:buNone/>
            </a:pPr>
            <a:r>
              <a:rPr lang="ru-RU" sz="2000" dirty="0"/>
              <a:t>8. Восстановить владение измененное в п.7.</a:t>
            </a:r>
          </a:p>
          <a:p>
            <a:pPr marL="0" indent="0">
              <a:buNone/>
            </a:pPr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3383987765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Содержимое 1"/>
          <p:cNvSpPr>
            <a:spLocks noGrp="1"/>
          </p:cNvSpPr>
          <p:nvPr>
            <p:ph/>
          </p:nvPr>
        </p:nvSpPr>
        <p:spPr>
          <a:xfrm>
            <a:off x="0" y="0"/>
            <a:ext cx="9144000" cy="6430962"/>
          </a:xfrm>
        </p:spPr>
        <p:txBody>
          <a:bodyPr/>
          <a:lstStyle/>
          <a:p>
            <a:pPr marL="0" indent="0">
              <a:buNone/>
            </a:pPr>
            <a:r>
              <a:rPr lang="ru-RU" sz="2000" b="1" dirty="0"/>
              <a:t>Задание на работу по настройке общего ресурса </a:t>
            </a:r>
            <a:r>
              <a:rPr lang="ru-RU" sz="2000" dirty="0"/>
              <a:t>(права, получаемые при доступе к дискам, папкам, принтерам и т.д. других компьютеров в локальной сети)</a:t>
            </a:r>
            <a:r>
              <a:rPr lang="ru-RU" sz="2000" b="1" dirty="0"/>
              <a:t>:</a:t>
            </a:r>
            <a:endParaRPr lang="ru-RU" sz="2000" dirty="0"/>
          </a:p>
          <a:p>
            <a:pPr>
              <a:buClr>
                <a:schemeClr val="tx1"/>
              </a:buClr>
              <a:buSzPct val="100000"/>
              <a:buFont typeface="+mj-lt"/>
              <a:buAutoNum type="arabicPeriod"/>
            </a:pPr>
            <a:r>
              <a:rPr lang="ru-RU" sz="2000" dirty="0"/>
              <a:t>Создать на второй рабочей станции папку, не менее 2-го уровня вложенности относительно корня диска. Обозначить её </a:t>
            </a:r>
            <a:r>
              <a:rPr lang="en-US" sz="2000" b="1" dirty="0"/>
              <a:t>share</a:t>
            </a:r>
            <a:r>
              <a:rPr lang="ru-RU" sz="2000" dirty="0"/>
              <a:t>.</a:t>
            </a:r>
            <a:endParaRPr lang="en-US" sz="2000" dirty="0"/>
          </a:p>
          <a:p>
            <a:pPr>
              <a:buClr>
                <a:schemeClr val="tx1"/>
              </a:buClr>
              <a:buSzPct val="100000"/>
              <a:buFont typeface="+mj-lt"/>
              <a:buAutoNum type="arabicPeriod"/>
            </a:pPr>
            <a:r>
              <a:rPr lang="ru-RU" sz="2000" dirty="0"/>
              <a:t>Для папки </a:t>
            </a:r>
            <a:r>
              <a:rPr lang="en-US" sz="2000" b="1" dirty="0"/>
              <a:t>share</a:t>
            </a:r>
            <a:r>
              <a:rPr lang="ru-RU" sz="2000" b="1" dirty="0"/>
              <a:t> </a:t>
            </a:r>
            <a:r>
              <a:rPr lang="ru-RU" sz="2000" dirty="0"/>
              <a:t>с правами администратора домена установить следующие права при доступе по сети:</a:t>
            </a:r>
          </a:p>
          <a:p>
            <a:pPr>
              <a:buClr>
                <a:schemeClr val="tx1"/>
              </a:buClr>
              <a:buSzPct val="100000"/>
              <a:buFont typeface="Wingdings" pitchFamily="2" charset="2"/>
              <a:buChar char="Ø"/>
            </a:pPr>
            <a:r>
              <a:rPr lang="ru-RU" sz="2000" dirty="0"/>
              <a:t>для администратора домена «</a:t>
            </a:r>
            <a:r>
              <a:rPr lang="ru-RU" sz="2000" b="1" dirty="0"/>
              <a:t>полный доступ</a:t>
            </a:r>
            <a:r>
              <a:rPr lang="ru-RU" sz="2000" dirty="0"/>
              <a:t>»;</a:t>
            </a:r>
          </a:p>
          <a:p>
            <a:pPr>
              <a:buClr>
                <a:schemeClr val="tx1"/>
              </a:buClr>
              <a:buSzPct val="100000"/>
              <a:buFont typeface="Wingdings" pitchFamily="2" charset="2"/>
              <a:buChar char="Ø"/>
            </a:pPr>
            <a:r>
              <a:rPr lang="ru-RU" sz="2000" dirty="0"/>
              <a:t>для любого «</a:t>
            </a:r>
            <a:r>
              <a:rPr lang="ru-RU" sz="2000" b="1" dirty="0"/>
              <a:t>пользователя домена</a:t>
            </a:r>
            <a:r>
              <a:rPr lang="ru-RU" sz="2000" dirty="0"/>
              <a:t>»(по вашему выбору) предоставить право «</a:t>
            </a:r>
            <a:r>
              <a:rPr lang="ru-RU" sz="2000" b="1" dirty="0"/>
              <a:t>чтение</a:t>
            </a:r>
            <a:r>
              <a:rPr lang="ru-RU" sz="2000" dirty="0"/>
              <a:t>»;</a:t>
            </a:r>
          </a:p>
          <a:p>
            <a:pPr>
              <a:buClr>
                <a:schemeClr val="tx1"/>
              </a:buClr>
              <a:buSzPct val="100000"/>
              <a:buFont typeface="Wingdings" pitchFamily="2" charset="2"/>
              <a:buChar char="Ø"/>
            </a:pPr>
            <a:r>
              <a:rPr lang="ru-RU" sz="2000" dirty="0"/>
              <a:t>для конкретного «</a:t>
            </a:r>
            <a:r>
              <a:rPr lang="ru-RU" sz="2000" b="1" dirty="0"/>
              <a:t>пользователя домена</a:t>
            </a:r>
            <a:r>
              <a:rPr lang="ru-RU" sz="2000" dirty="0"/>
              <a:t>»(по вашему выбору) – право "</a:t>
            </a:r>
            <a:r>
              <a:rPr lang="ru-RU" sz="2000" b="1" dirty="0"/>
              <a:t>изменение</a:t>
            </a:r>
            <a:r>
              <a:rPr lang="ru-RU" sz="2000" dirty="0"/>
              <a:t>".</a:t>
            </a:r>
          </a:p>
          <a:p>
            <a:pPr marL="0" indent="0">
              <a:buClr>
                <a:schemeClr val="tx1"/>
              </a:buClr>
              <a:buSzPct val="100000"/>
              <a:buNone/>
            </a:pPr>
            <a:r>
              <a:rPr lang="ru-RU" sz="2000" dirty="0"/>
              <a:t>Проверить.</a:t>
            </a:r>
          </a:p>
          <a:p>
            <a:pPr>
              <a:buClr>
                <a:schemeClr val="tx1"/>
              </a:buClr>
              <a:buSzPct val="100000"/>
              <a:buFont typeface="+mj-lt"/>
              <a:buAutoNum type="arabicPeriod"/>
            </a:pPr>
            <a:endParaRPr lang="ru-RU" sz="1600" dirty="0"/>
          </a:p>
          <a:p>
            <a:pPr marL="0" indent="0">
              <a:buNone/>
            </a:pPr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276123404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Содержимое 1"/>
          <p:cNvSpPr>
            <a:spLocks noGrp="1"/>
          </p:cNvSpPr>
          <p:nvPr>
            <p:ph/>
          </p:nvPr>
        </p:nvSpPr>
        <p:spPr>
          <a:xfrm>
            <a:off x="0" y="0"/>
            <a:ext cx="9144000" cy="6430962"/>
          </a:xfrm>
        </p:spPr>
        <p:txBody>
          <a:bodyPr/>
          <a:lstStyle/>
          <a:p>
            <a:pPr marL="0" indent="0">
              <a:buClr>
                <a:schemeClr val="tx1"/>
              </a:buClr>
              <a:buSzPct val="100000"/>
              <a:buNone/>
            </a:pPr>
            <a:endParaRPr lang="ru-RU" sz="2000"/>
          </a:p>
          <a:p>
            <a:pPr marL="0" indent="0">
              <a:buClr>
                <a:schemeClr val="tx1"/>
              </a:buClr>
              <a:buSzPct val="100000"/>
              <a:buNone/>
            </a:pPr>
            <a:r>
              <a:rPr lang="ru-RU" sz="2000"/>
              <a:t>3</a:t>
            </a:r>
            <a:r>
              <a:rPr lang="ru-RU" sz="2000" dirty="0"/>
              <a:t>. Работа выполнена.</a:t>
            </a:r>
          </a:p>
          <a:p>
            <a:pPr>
              <a:buClr>
                <a:schemeClr val="tx1"/>
              </a:buClr>
              <a:buSzPct val="100000"/>
              <a:buFont typeface="+mj-lt"/>
              <a:buAutoNum type="arabicPeriod"/>
            </a:pPr>
            <a:endParaRPr lang="ru-RU" sz="1600" dirty="0"/>
          </a:p>
          <a:p>
            <a:pPr marL="0" indent="0">
              <a:buNone/>
            </a:pPr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3574611879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1_Палитра">
  <a:themeElements>
    <a:clrScheme name="1_Палитра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1_Палитра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/>
      <a:bodyPr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sz="1200" b="1" i="0" u="none" strike="noStrike" kern="1200" cap="none" spc="0" normalizeH="0" baseline="0" noProof="0" dirty="0" smtClean="0">
            <a:ln>
              <a:noFill/>
            </a:ln>
            <a:solidFill>
              <a:srgbClr val="8893A0"/>
            </a:solidFill>
            <a:effectLst/>
            <a:uLnTx/>
            <a:uFillTx/>
            <a:latin typeface="Arial" charset="0"/>
            <a:ea typeface="+mn-ea"/>
            <a:cs typeface="+mn-cs"/>
          </a:defRPr>
        </a:defPPr>
      </a:lstStyle>
    </a:txDef>
  </a:objectDefaults>
  <a:extraClrSchemeLst>
    <a:extraClrScheme>
      <a:clrScheme name="1_Палитра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Палитра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Палитра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Палитра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Палитра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Палитра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Тема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13452</TotalTime>
  <Words>609</Words>
  <Application>Microsoft Office PowerPoint</Application>
  <PresentationFormat>Экран (4:3)</PresentationFormat>
  <Paragraphs>57</Paragraphs>
  <Slides>12</Slides>
  <Notes>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6" baseType="lpstr">
      <vt:lpstr>Times New Roman</vt:lpstr>
      <vt:lpstr>Arial</vt:lpstr>
      <vt:lpstr>Wingdings</vt:lpstr>
      <vt:lpstr>1_Палитра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SPIIRAS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Заголовок слайда отсутствует</dc:title>
  <dc:creator>Gor</dc:creator>
  <cp:lastModifiedBy>Вячеслав Копешкин</cp:lastModifiedBy>
  <cp:revision>783</cp:revision>
  <cp:lastPrinted>2002-06-14T06:50:34Z</cp:lastPrinted>
  <dcterms:created xsi:type="dcterms:W3CDTF">2000-07-05T10:59:49Z</dcterms:created>
  <dcterms:modified xsi:type="dcterms:W3CDTF">2026-01-23T12:34:06Z</dcterms:modified>
</cp:coreProperties>
</file>