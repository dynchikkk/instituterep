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17"/>
  </p:notesMasterIdLst>
  <p:handoutMasterIdLst>
    <p:handoutMasterId r:id="rId18"/>
  </p:handoutMasterIdLst>
  <p:sldIdLst>
    <p:sldId id="440" r:id="rId2"/>
    <p:sldId id="441" r:id="rId3"/>
    <p:sldId id="442" r:id="rId4"/>
    <p:sldId id="489" r:id="rId5"/>
    <p:sldId id="499" r:id="rId6"/>
    <p:sldId id="492" r:id="rId7"/>
    <p:sldId id="493" r:id="rId8"/>
    <p:sldId id="488" r:id="rId9"/>
    <p:sldId id="494" r:id="rId10"/>
    <p:sldId id="495" r:id="rId11"/>
    <p:sldId id="497" r:id="rId12"/>
    <p:sldId id="498" r:id="rId13"/>
    <p:sldId id="443" r:id="rId14"/>
    <p:sldId id="444" r:id="rId15"/>
    <p:sldId id="445" r:id="rId16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102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</a:t>
            </a:r>
            <a:r>
              <a:rPr lang="ru-RU" sz="3600" b="1"/>
              <a:t>работа №3</a:t>
            </a: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286520"/>
          </a:xfrm>
        </p:spPr>
        <p:txBody>
          <a:bodyPr/>
          <a:lstStyle/>
          <a:p>
            <a:pPr algn="ctr">
              <a:buNone/>
            </a:pPr>
            <a:r>
              <a:rPr lang="ru-RU" sz="1600" b="1" dirty="0">
                <a:solidFill>
                  <a:srgbClr val="FF0000"/>
                </a:solidFill>
              </a:rPr>
              <a:t>Внимание!</a:t>
            </a:r>
          </a:p>
          <a:p>
            <a:pPr algn="ctr">
              <a:buNone/>
            </a:pPr>
            <a:endParaRPr lang="ru-RU" sz="1600" b="1" dirty="0"/>
          </a:p>
          <a:p>
            <a:pPr marL="0" indent="342900">
              <a:buNone/>
            </a:pPr>
            <a:r>
              <a:rPr lang="ru-RU" sz="1600" dirty="0"/>
              <a:t>1. Начиная с этой работы  и далее уже не будет таких детальных указаний (по шагам) по её выполнению.</a:t>
            </a:r>
          </a:p>
          <a:p>
            <a:pPr>
              <a:buNone/>
            </a:pPr>
            <a:endParaRPr lang="ru-RU" sz="1600" dirty="0"/>
          </a:p>
          <a:p>
            <a:pPr marL="0" indent="342900">
              <a:buNone/>
            </a:pPr>
            <a:r>
              <a:rPr lang="ru-RU" sz="1600" dirty="0"/>
              <a:t>2. К каждой работе дается ссылка на литературу в которой изложен материал необходимый для её выполнения.</a:t>
            </a:r>
          </a:p>
          <a:p>
            <a:pPr marL="0" indent="342900">
              <a:buNone/>
            </a:pPr>
            <a:r>
              <a:rPr lang="ru-RU" sz="1600" dirty="0">
                <a:solidFill>
                  <a:srgbClr val="FF0000"/>
                </a:solidFill>
              </a:rPr>
              <a:t>Его необходимо изучить, перед выполнением соответствующего пункта задания, чтобы потом не переделывать сделанное.</a:t>
            </a:r>
          </a:p>
          <a:p>
            <a:pPr marL="0" indent="342900">
              <a:buNone/>
            </a:pPr>
            <a:endParaRPr lang="ru-RU" sz="1600" dirty="0">
              <a:solidFill>
                <a:srgbClr val="FF0000"/>
              </a:solidFill>
            </a:endParaRPr>
          </a:p>
          <a:p>
            <a:pPr marL="0" indent="342900">
              <a:buNone/>
            </a:pPr>
            <a:r>
              <a:rPr lang="ru-RU" sz="1600" dirty="0"/>
              <a:t>3. Управление контроллером выполнять с использованием только </a:t>
            </a:r>
            <a:r>
              <a:rPr lang="ru-RU" sz="1600" dirty="0">
                <a:solidFill>
                  <a:srgbClr val="C00000"/>
                </a:solidFill>
              </a:rPr>
              <a:t>графического интерфейса. </a:t>
            </a:r>
            <a:r>
              <a:rPr lang="ru-RU" sz="1600" dirty="0"/>
              <a:t>Управление из командной строки выполнять, только если оговорено в задании.</a:t>
            </a:r>
          </a:p>
        </p:txBody>
      </p:sp>
    </p:spTree>
    <p:extLst>
      <p:ext uri="{BB962C8B-B14F-4D97-AF65-F5344CB8AC3E}">
        <p14:creationId xmlns:p14="http://schemas.microsoft.com/office/powerpoint/2010/main" val="172936937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286520"/>
          </a:xfrm>
        </p:spPr>
        <p:txBody>
          <a:bodyPr/>
          <a:lstStyle/>
          <a:p>
            <a:pPr algn="ctr">
              <a:buNone/>
            </a:pPr>
            <a:r>
              <a:rPr lang="ru-RU" sz="2400" b="1" dirty="0"/>
              <a:t>Развертывание </a:t>
            </a:r>
            <a:r>
              <a:rPr lang="en-US" sz="2400" b="1" dirty="0"/>
              <a:t>AD </a:t>
            </a:r>
            <a:r>
              <a:rPr lang="ru-RU" sz="2400" b="1" dirty="0"/>
              <a:t>в домене.</a:t>
            </a:r>
            <a:r>
              <a:rPr lang="en-US" sz="2400" b="1" dirty="0"/>
              <a:t> </a:t>
            </a:r>
            <a:r>
              <a:rPr lang="ru-RU" sz="2400" b="1" dirty="0"/>
              <a:t>Учетные записи компьютеров</a:t>
            </a:r>
          </a:p>
          <a:p>
            <a:pPr algn="ctr">
              <a:buNone/>
            </a:pPr>
            <a:r>
              <a:rPr lang="ru-RU" sz="2000" b="1" dirty="0"/>
              <a:t>(Литература №3, стр. 117-132. Литература №2, стр.186-211)</a:t>
            </a:r>
          </a:p>
          <a:p>
            <a:pPr>
              <a:buNone/>
            </a:pPr>
            <a:endParaRPr lang="ru-RU" sz="2000" b="1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b="1" u="sng" dirty="0"/>
              <a:t>Тема работы: </a:t>
            </a:r>
            <a:r>
              <a:rPr lang="ru-RU" sz="2000" dirty="0"/>
              <a:t>Разработка структуры </a:t>
            </a:r>
            <a:r>
              <a:rPr lang="en-US" sz="2000" dirty="0"/>
              <a:t>AD </a:t>
            </a:r>
            <a:r>
              <a:rPr lang="ru-RU" sz="2000" dirty="0"/>
              <a:t>в домене. Создание организационных подразделений ОП (контейнеров). Присоединение рабочих станций к домену. Просмотр учетных записей станций. Перемещение объекта станции. Управление учетными записями станций. Отключение, удаление и переустановка учетных записей станций.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Задание на работу: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ru-RU" sz="2000" dirty="0"/>
              <a:t>Создать организационное подразделение (ОП) для компьютеров, присоединяемых к  домену. Имя выбрать по своему усмотрению.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SzPct val="100000"/>
              <a:buAutoNum type="arabicPeriod"/>
            </a:pPr>
            <a:endParaRPr lang="ru-RU" sz="2000" dirty="0"/>
          </a:p>
          <a:p>
            <a:pPr marL="0">
              <a:spcBef>
                <a:spcPts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ru-RU" sz="2000" b="1" i="1" u="sng" dirty="0"/>
              <a:t>Переименовать ранее установленные </a:t>
            </a:r>
            <a:r>
              <a:rPr lang="ru-RU" sz="2000" dirty="0"/>
              <a:t>станции по правилу: </a:t>
            </a:r>
            <a:r>
              <a:rPr lang="en-US" sz="2000" b="1" dirty="0"/>
              <a:t>brig[</a:t>
            </a:r>
            <a:r>
              <a:rPr lang="en-US" sz="2000" b="1" dirty="0" err="1"/>
              <a:t>i</a:t>
            </a:r>
            <a:r>
              <a:rPr lang="en-US" sz="2000" b="1" dirty="0"/>
              <a:t>][</a:t>
            </a:r>
            <a:r>
              <a:rPr lang="ru-RU" sz="2000" b="1" dirty="0"/>
              <a:t>№ машины</a:t>
            </a:r>
            <a:r>
              <a:rPr lang="en-US" sz="2000" b="1" dirty="0"/>
              <a:t>]</a:t>
            </a:r>
            <a:r>
              <a:rPr lang="ru-RU" sz="2000" dirty="0"/>
              <a:t>, где </a:t>
            </a:r>
            <a:r>
              <a:rPr lang="en-US" sz="2000" dirty="0" err="1"/>
              <a:t>i</a:t>
            </a:r>
            <a:r>
              <a:rPr lang="en-US" sz="2000" dirty="0"/>
              <a:t>-</a:t>
            </a:r>
            <a:r>
              <a:rPr lang="ru-RU" sz="2000" dirty="0"/>
              <a:t>номер бригады. Например для бригады №1 это будет </a:t>
            </a:r>
            <a:r>
              <a:rPr lang="en-US" sz="2000" b="1" dirty="0"/>
              <a:t>brig1</a:t>
            </a:r>
            <a:r>
              <a:rPr lang="ru-RU" sz="2000" b="1" dirty="0"/>
              <a:t>1 </a:t>
            </a:r>
            <a:r>
              <a:rPr lang="ru-RU" sz="2000" dirty="0"/>
              <a:t>(</a:t>
            </a:r>
            <a:r>
              <a:rPr lang="en-US" sz="2000" dirty="0"/>
              <a:t>Windows</a:t>
            </a:r>
            <a:r>
              <a:rPr lang="ru-RU" sz="2000" dirty="0"/>
              <a:t>)</a:t>
            </a:r>
            <a:r>
              <a:rPr lang="ru-RU" sz="2000" b="1" dirty="0"/>
              <a:t> </a:t>
            </a:r>
            <a:r>
              <a:rPr lang="ru-RU" sz="2000" dirty="0"/>
              <a:t>и</a:t>
            </a:r>
            <a:r>
              <a:rPr lang="ru-RU" sz="2000" b="1" dirty="0"/>
              <a:t> </a:t>
            </a:r>
            <a:r>
              <a:rPr lang="en-US" sz="2000" b="1" dirty="0"/>
              <a:t>brig1</a:t>
            </a:r>
            <a:r>
              <a:rPr lang="ru-RU" sz="2000" b="1" dirty="0"/>
              <a:t>2</a:t>
            </a:r>
            <a:r>
              <a:rPr lang="en-US" sz="2000" b="1" dirty="0"/>
              <a:t> </a:t>
            </a:r>
            <a:r>
              <a:rPr lang="en-US" sz="2000" dirty="0"/>
              <a:t>(Alt Workstation)</a:t>
            </a:r>
            <a:r>
              <a:rPr lang="ru-RU" sz="2000" dirty="0"/>
              <a:t>.</a:t>
            </a:r>
            <a:r>
              <a:rPr lang="ru-RU" sz="2000" b="1" dirty="0"/>
              <a:t> </a:t>
            </a:r>
            <a:r>
              <a:rPr lang="ru-RU" sz="2000" dirty="0"/>
              <a:t>Присоединить к домену эти рабочие станции.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Как присоединить станцию </a:t>
            </a:r>
            <a:r>
              <a:rPr lang="en-US" sz="2000" b="1" dirty="0"/>
              <a:t>alt-</a:t>
            </a:r>
            <a:r>
              <a:rPr lang="en-US" sz="2000" b="1" dirty="0" err="1"/>
              <a:t>st</a:t>
            </a:r>
            <a:r>
              <a:rPr lang="ru-RU" sz="2000" b="1" dirty="0"/>
              <a:t> </a:t>
            </a:r>
            <a:r>
              <a:rPr lang="ru-RU" sz="2000" dirty="0"/>
              <a:t>к домену, смотри следующие слайды.</a:t>
            </a:r>
          </a:p>
        </p:txBody>
      </p:sp>
    </p:spTree>
    <p:extLst>
      <p:ext uri="{BB962C8B-B14F-4D97-AF65-F5344CB8AC3E}">
        <p14:creationId xmlns:p14="http://schemas.microsoft.com/office/powerpoint/2010/main" val="4757480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hangingPunct="0"/>
            <a:r>
              <a:rPr lang="ru-RU" sz="2400" b="1" u="sng" dirty="0"/>
              <a:t>Ввод станции Альт </a:t>
            </a:r>
            <a:r>
              <a:rPr lang="ru-RU" sz="2400" b="1" u="sng" dirty="0" err="1"/>
              <a:t>Линукс</a:t>
            </a:r>
            <a:r>
              <a:rPr lang="ru-RU" sz="2400" b="1" u="sng" dirty="0"/>
              <a:t> в домен </a:t>
            </a:r>
            <a:r>
              <a:rPr lang="en-US" sz="2400" b="1" u="sng" dirty="0"/>
              <a:t>Windows</a:t>
            </a:r>
            <a:endParaRPr lang="ru-RU" sz="2400" b="1" u="sng" dirty="0"/>
          </a:p>
          <a:p>
            <a:pPr algn="ctr" hangingPunct="0"/>
            <a:endParaRPr lang="ru-RU" b="1" dirty="0"/>
          </a:p>
          <a:p>
            <a:pPr hangingPunct="0"/>
            <a:r>
              <a:rPr lang="ru-RU" sz="2400" dirty="0"/>
              <a:t>Перед вводом станции в домен перенастроить её сетевой адаптер на статический адрес, для чего открыть каталог </a:t>
            </a:r>
            <a:r>
              <a:rPr lang="en-US" sz="2400" b="1" dirty="0" err="1"/>
              <a:t>etc</a:t>
            </a:r>
            <a:r>
              <a:rPr lang="en-US" sz="2400" b="1" dirty="0"/>
              <a:t>/net/</a:t>
            </a:r>
            <a:r>
              <a:rPr lang="en-US" sz="2400" b="1" dirty="0" err="1"/>
              <a:t>ifaces</a:t>
            </a:r>
            <a:r>
              <a:rPr lang="en-US" sz="2400" b="1" dirty="0"/>
              <a:t>/enp0s3/options</a:t>
            </a:r>
          </a:p>
          <a:p>
            <a:pPr hangingPunct="0"/>
            <a:endParaRPr lang="en-US" sz="2400" b="1" dirty="0"/>
          </a:p>
          <a:p>
            <a:pPr hangingPunct="0"/>
            <a:r>
              <a:rPr lang="en-US" sz="2400" b="1" dirty="0"/>
              <a:t>NM_CONTROLLED=no</a:t>
            </a:r>
          </a:p>
          <a:p>
            <a:pPr hangingPunct="0"/>
            <a:r>
              <a:rPr lang="en-US" sz="2400" b="1" dirty="0"/>
              <a:t>DISABLED=no</a:t>
            </a:r>
          </a:p>
          <a:p>
            <a:pPr hangingPunct="0"/>
            <a:r>
              <a:rPr lang="en-US" sz="2400" b="1" dirty="0"/>
              <a:t>BOOTPROTO=</a:t>
            </a:r>
            <a:r>
              <a:rPr lang="en-US" sz="2400" b="1" dirty="0">
                <a:solidFill>
                  <a:srgbClr val="FF0000"/>
                </a:solidFill>
              </a:rPr>
              <a:t>static</a:t>
            </a:r>
          </a:p>
          <a:p>
            <a:pPr hangingPunct="0"/>
            <a:endParaRPr lang="en-US" sz="2400" b="1" dirty="0"/>
          </a:p>
          <a:p>
            <a:pPr hangingPunct="0"/>
            <a:r>
              <a:rPr lang="ru-RU" sz="2400" dirty="0"/>
              <a:t>Перезагрузить станцию, чтобы перенастроить сетевой адаптер.</a:t>
            </a:r>
          </a:p>
          <a:p>
            <a:pPr hangingPunct="0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8040154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hangingPunct="0"/>
            <a:endParaRPr lang="ru-RU" b="1" dirty="0"/>
          </a:p>
          <a:p>
            <a:pPr hangingPunct="0"/>
            <a:r>
              <a:rPr lang="ru-RU" dirty="0"/>
              <a:t>В </a:t>
            </a:r>
            <a:r>
              <a:rPr lang="ru-RU" b="1" dirty="0"/>
              <a:t>Центре управления системой, </a:t>
            </a:r>
            <a:r>
              <a:rPr lang="ru-RU" dirty="0"/>
              <a:t>раздел </a:t>
            </a:r>
            <a:r>
              <a:rPr lang="ru-RU" b="1" dirty="0"/>
              <a:t>Пользователи </a:t>
            </a:r>
            <a:r>
              <a:rPr lang="ru-RU" dirty="0"/>
              <a:t>выбрать </a:t>
            </a:r>
            <a:r>
              <a:rPr lang="ru-RU" b="1" dirty="0"/>
              <a:t>Аутентификация</a:t>
            </a:r>
            <a:endParaRPr lang="en-US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252537"/>
            <a:ext cx="7820025" cy="4352925"/>
          </a:xfrm>
          <a:prstGeom prst="rect">
            <a:avLst/>
          </a:prstGeom>
        </p:spPr>
      </p:pic>
      <p:sp>
        <p:nvSpPr>
          <p:cNvPr id="10" name="AutoShape 24"/>
          <p:cNvSpPr>
            <a:spLocks noChangeShapeType="1"/>
          </p:cNvSpPr>
          <p:nvPr/>
        </p:nvSpPr>
        <p:spPr bwMode="auto">
          <a:xfrm>
            <a:off x="2267744" y="620689"/>
            <a:ext cx="1152128" cy="579640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24"/>
          <p:cNvSpPr>
            <a:spLocks noChangeShapeType="1"/>
          </p:cNvSpPr>
          <p:nvPr/>
        </p:nvSpPr>
        <p:spPr bwMode="auto">
          <a:xfrm>
            <a:off x="1403648" y="836712"/>
            <a:ext cx="4032448" cy="3071434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4"/>
          <p:cNvSpPr>
            <a:spLocks noChangeShapeType="1"/>
          </p:cNvSpPr>
          <p:nvPr/>
        </p:nvSpPr>
        <p:spPr bwMode="auto">
          <a:xfrm flipH="1">
            <a:off x="2267744" y="620688"/>
            <a:ext cx="2952328" cy="2880320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4873712" y="3908145"/>
            <a:ext cx="1354472" cy="3485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57430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ru-RU" dirty="0"/>
              <a:t>Заполнить выделенные поля и нажать </a:t>
            </a:r>
            <a:r>
              <a:rPr lang="ru-RU" b="1" dirty="0"/>
              <a:t>Применить</a:t>
            </a:r>
            <a:endParaRPr lang="en-US" b="1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323528" y="764704"/>
            <a:ext cx="8640960" cy="6093296"/>
            <a:chOff x="251520" y="500127"/>
            <a:chExt cx="8640960" cy="7044930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00127"/>
              <a:ext cx="8640960" cy="5187162"/>
            </a:xfrm>
            <a:prstGeom prst="rect">
              <a:avLst/>
            </a:prstGeom>
          </p:spPr>
        </p:pic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5687289"/>
              <a:ext cx="8568952" cy="1857768"/>
            </a:xfrm>
            <a:prstGeom prst="rect">
              <a:avLst/>
            </a:prstGeom>
          </p:spPr>
        </p:pic>
      </p:grp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009" y="1988840"/>
            <a:ext cx="1551326" cy="244273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93" y="2780884"/>
            <a:ext cx="1469851" cy="680959"/>
          </a:xfrm>
          <a:prstGeom prst="rect">
            <a:avLst/>
          </a:prstGeom>
        </p:spPr>
      </p:pic>
      <p:sp>
        <p:nvSpPr>
          <p:cNvPr id="21" name="AutoShape 24"/>
          <p:cNvSpPr>
            <a:spLocks noChangeShapeType="1"/>
          </p:cNvSpPr>
          <p:nvPr/>
        </p:nvSpPr>
        <p:spPr bwMode="auto">
          <a:xfrm flipH="1">
            <a:off x="1979712" y="352999"/>
            <a:ext cx="2736304" cy="5812305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AutoShape 24"/>
          <p:cNvSpPr>
            <a:spLocks noChangeShapeType="1"/>
          </p:cNvSpPr>
          <p:nvPr/>
        </p:nvSpPr>
        <p:spPr bwMode="auto">
          <a:xfrm>
            <a:off x="2987824" y="352999"/>
            <a:ext cx="337703" cy="2427885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" name="AutoShape 24"/>
          <p:cNvSpPr>
            <a:spLocks noChangeShapeType="1"/>
          </p:cNvSpPr>
          <p:nvPr/>
        </p:nvSpPr>
        <p:spPr bwMode="auto">
          <a:xfrm flipH="1">
            <a:off x="2555776" y="382021"/>
            <a:ext cx="432048" cy="1606819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01883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открывшемся окне необходимо ввести логин пользователя, имеющего права администратора домена, его пароль и нажать кнопку </a:t>
            </a:r>
            <a:r>
              <a:rPr lang="ru-RU" b="1" dirty="0"/>
              <a:t>ОК</a:t>
            </a:r>
            <a:r>
              <a:rPr lang="ru-RU" dirty="0"/>
              <a:t>:</a:t>
            </a:r>
            <a:endParaRPr lang="en-US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1979712" y="764704"/>
            <a:ext cx="4392488" cy="2857500"/>
            <a:chOff x="1979712" y="764704"/>
            <a:chExt cx="4392488" cy="2857500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764704"/>
              <a:ext cx="4392488" cy="28575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3995936" y="1732314"/>
              <a:ext cx="184591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&lt;</a:t>
              </a: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логин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&gt;</a:t>
              </a: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11" name="Прямоугольник 10"/>
          <p:cNvSpPr/>
          <p:nvPr/>
        </p:nvSpPr>
        <p:spPr>
          <a:xfrm>
            <a:off x="1166" y="3735718"/>
            <a:ext cx="9124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успешном подключении к домену, отобразится соответствующая информация:</a:t>
            </a:r>
            <a:endParaRPr lang="en-US" dirty="0"/>
          </a:p>
        </p:txBody>
      </p:sp>
      <p:grpSp>
        <p:nvGrpSpPr>
          <p:cNvPr id="15" name="Группа 14"/>
          <p:cNvGrpSpPr/>
          <p:nvPr/>
        </p:nvGrpSpPr>
        <p:grpSpPr>
          <a:xfrm>
            <a:off x="2123728" y="4105050"/>
            <a:ext cx="3312368" cy="1916238"/>
            <a:chOff x="1979712" y="4117989"/>
            <a:chExt cx="3528392" cy="2492396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712" y="4117989"/>
              <a:ext cx="3528392" cy="249239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914403" y="5364187"/>
              <a:ext cx="1152127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/>
                <a:t>b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rigada4.test</a:t>
              </a: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16" name="Прямоугольник 15"/>
          <p:cNvSpPr/>
          <p:nvPr/>
        </p:nvSpPr>
        <p:spPr>
          <a:xfrm>
            <a:off x="-1" y="6275545"/>
            <a:ext cx="9124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u="sng" dirty="0"/>
              <a:t>Перезагрузить станцию.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6893845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Проверка работы Альт станции в составе домена</a:t>
            </a:r>
          </a:p>
          <a:p>
            <a:pPr algn="ctr"/>
            <a:endParaRPr lang="ru-RU" b="1" dirty="0"/>
          </a:p>
          <a:p>
            <a:r>
              <a:rPr lang="ru-RU" i="1" u="sng" dirty="0">
                <a:solidFill>
                  <a:srgbClr val="FF0000"/>
                </a:solidFill>
              </a:rPr>
              <a:t>Это надо сделать после выполнения работы №4 из второй части, т.е. после создания пользователей в домене, чтобы убедиться в правильности </a:t>
            </a:r>
            <a:r>
              <a:rPr lang="ru-RU" i="1" u="sng">
                <a:solidFill>
                  <a:srgbClr val="FF0000"/>
                </a:solidFill>
              </a:rPr>
              <a:t>присоединения станции.</a:t>
            </a:r>
            <a:endParaRPr lang="ru-RU" i="1" u="sng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ru-RU" dirty="0"/>
              <a:t>Если ввести команду от имени обычного пользователя:</a:t>
            </a:r>
          </a:p>
          <a:p>
            <a:r>
              <a:rPr lang="en-US" dirty="0"/>
              <a:t>$ </a:t>
            </a:r>
            <a:r>
              <a:rPr lang="en-US" b="1" dirty="0" err="1"/>
              <a:t>getent</a:t>
            </a:r>
            <a:r>
              <a:rPr lang="en-US" b="1" dirty="0"/>
              <a:t> </a:t>
            </a:r>
            <a:r>
              <a:rPr lang="en-US" b="1" dirty="0" err="1"/>
              <a:t>passwd</a:t>
            </a:r>
            <a:r>
              <a:rPr lang="en-US" b="1" dirty="0"/>
              <a:t> &lt;</a:t>
            </a:r>
            <a:r>
              <a:rPr lang="ru-RU" b="1" dirty="0"/>
              <a:t>логин доменного пользователя, например "</a:t>
            </a:r>
            <a:r>
              <a:rPr lang="en-US" b="1" dirty="0" err="1"/>
              <a:t>ivanov</a:t>
            </a:r>
            <a:r>
              <a:rPr lang="ru-RU" b="1" dirty="0"/>
              <a:t>"</a:t>
            </a:r>
            <a:r>
              <a:rPr lang="en-US" b="1" dirty="0"/>
              <a:t>&gt;</a:t>
            </a:r>
            <a:r>
              <a:rPr lang="ru-RU" b="1" dirty="0"/>
              <a:t>, </a:t>
            </a:r>
            <a:r>
              <a:rPr lang="ru-RU" dirty="0"/>
              <a:t>то получите:</a:t>
            </a:r>
            <a:endParaRPr lang="en-US" b="1" dirty="0"/>
          </a:p>
          <a:p>
            <a:r>
              <a:rPr lang="en-US" dirty="0" err="1"/>
              <a:t>ivanov</a:t>
            </a:r>
            <a:r>
              <a:rPr lang="en-US" dirty="0"/>
              <a:t>:*:417001106:417000513:</a:t>
            </a:r>
            <a:r>
              <a:rPr lang="ru-RU" dirty="0"/>
              <a:t>Иван Иванов:/</a:t>
            </a:r>
            <a:r>
              <a:rPr lang="en-US" dirty="0"/>
              <a:t>home/&lt;</a:t>
            </a:r>
            <a:r>
              <a:rPr lang="ru-RU" i="1" u="sng" dirty="0"/>
              <a:t>имя домена</a:t>
            </a:r>
            <a:r>
              <a:rPr lang="en-US" dirty="0"/>
              <a:t>&gt;/</a:t>
            </a:r>
            <a:r>
              <a:rPr lang="en-US" dirty="0" err="1"/>
              <a:t>ivanov</a:t>
            </a:r>
            <a:r>
              <a:rPr lang="en-US" dirty="0"/>
              <a:t>:/bin/bash</a:t>
            </a:r>
            <a:endParaRPr lang="ru-RU" dirty="0"/>
          </a:p>
          <a:p>
            <a:r>
              <a:rPr lang="ru-RU" dirty="0"/>
              <a:t>Или например:</a:t>
            </a:r>
          </a:p>
          <a:p>
            <a:endParaRPr lang="ru-RU" dirty="0"/>
          </a:p>
          <a:p>
            <a:endParaRPr lang="en-US" dirty="0"/>
          </a:p>
          <a:p>
            <a:endParaRPr lang="ru-RU" dirty="0"/>
          </a:p>
          <a:p>
            <a:r>
              <a:rPr lang="ru-RU" dirty="0"/>
              <a:t>Если ввести команду от имени </a:t>
            </a:r>
            <a:r>
              <a:rPr lang="en-US" b="1" dirty="0"/>
              <a:t>root</a:t>
            </a:r>
            <a:r>
              <a:rPr lang="ru-RU" dirty="0"/>
              <a:t>:</a:t>
            </a:r>
          </a:p>
          <a:p>
            <a:r>
              <a:rPr lang="en-US" dirty="0"/>
              <a:t># </a:t>
            </a:r>
            <a:r>
              <a:rPr lang="en-US" b="1" dirty="0"/>
              <a:t>net ads info</a:t>
            </a:r>
          </a:p>
          <a:p>
            <a:r>
              <a:rPr lang="en-US" dirty="0"/>
              <a:t>LDAP server: 192.168.1.1</a:t>
            </a:r>
          </a:p>
          <a:p>
            <a:r>
              <a:rPr lang="en-US" dirty="0"/>
              <a:t>LDAP server name: &lt;</a:t>
            </a:r>
            <a:r>
              <a:rPr lang="ru-RU" i="1" u="sng" dirty="0"/>
              <a:t>полное имя контроллера домена</a:t>
            </a:r>
            <a:r>
              <a:rPr lang="en-US" dirty="0"/>
              <a:t>&gt;</a:t>
            </a:r>
          </a:p>
          <a:p>
            <a:r>
              <a:rPr lang="en-US" dirty="0"/>
              <a:t>Realm: &lt;</a:t>
            </a:r>
            <a:r>
              <a:rPr lang="ru-RU" i="1" u="sng" dirty="0"/>
              <a:t>имя домена</a:t>
            </a:r>
            <a:r>
              <a:rPr lang="en-US" i="1" u="sng" dirty="0"/>
              <a:t>&gt;</a:t>
            </a:r>
            <a:r>
              <a:rPr lang="ru-RU" i="1" u="sng" dirty="0"/>
              <a:t> </a:t>
            </a:r>
          </a:p>
          <a:p>
            <a:r>
              <a:rPr lang="en-US" dirty="0"/>
              <a:t>Bind Path: dc=&lt;</a:t>
            </a:r>
            <a:r>
              <a:rPr lang="ru-RU" dirty="0"/>
              <a:t>имя домена</a:t>
            </a:r>
            <a:r>
              <a:rPr lang="en-US" dirty="0"/>
              <a:t>&gt;,dc=&lt;</a:t>
            </a:r>
            <a:r>
              <a:rPr lang="ru-RU" dirty="0"/>
              <a:t>корень домена</a:t>
            </a:r>
            <a:r>
              <a:rPr lang="en-US" dirty="0"/>
              <a:t>&gt;</a:t>
            </a:r>
          </a:p>
          <a:p>
            <a:r>
              <a:rPr lang="en-US" dirty="0"/>
              <a:t>LDAP port: 389</a:t>
            </a:r>
          </a:p>
          <a:p>
            <a:r>
              <a:rPr lang="en-US" dirty="0"/>
              <a:t>Server time: </a:t>
            </a:r>
            <a:r>
              <a:rPr lang="en-US" dirty="0" err="1"/>
              <a:t>Пн</a:t>
            </a:r>
            <a:r>
              <a:rPr lang="en-US" dirty="0"/>
              <a:t>, 21 </a:t>
            </a:r>
            <a:r>
              <a:rPr lang="en-US" dirty="0" err="1"/>
              <a:t>окт</a:t>
            </a:r>
            <a:r>
              <a:rPr lang="en-US" dirty="0"/>
              <a:t> 2024 08:46:50 EET</a:t>
            </a:r>
          </a:p>
          <a:p>
            <a:r>
              <a:rPr lang="en-US" dirty="0"/>
              <a:t>KDC server: 192.168.</a:t>
            </a:r>
            <a:r>
              <a:rPr lang="ru-RU" dirty="0"/>
              <a:t>1</a:t>
            </a:r>
            <a:r>
              <a:rPr lang="en-US" dirty="0"/>
              <a:t>.1</a:t>
            </a:r>
          </a:p>
          <a:p>
            <a:r>
              <a:rPr lang="en-US" dirty="0"/>
              <a:t>Server time offset: 0</a:t>
            </a:r>
          </a:p>
          <a:p>
            <a:r>
              <a:rPr lang="en-US" dirty="0"/>
              <a:t>Last machine account password change: </a:t>
            </a:r>
            <a:r>
              <a:rPr lang="en-US" dirty="0" err="1"/>
              <a:t>Пн</a:t>
            </a:r>
            <a:r>
              <a:rPr lang="en-US" dirty="0"/>
              <a:t>, 21 </a:t>
            </a:r>
            <a:r>
              <a:rPr lang="en-US" dirty="0" err="1"/>
              <a:t>окт</a:t>
            </a:r>
            <a:r>
              <a:rPr lang="en-US" dirty="0"/>
              <a:t> 2024 08:47:43 EET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0" y="1988840"/>
            <a:ext cx="50958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216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ввести команду проверки соединения с </a:t>
            </a:r>
            <a:r>
              <a:rPr lang="en-US" dirty="0"/>
              <a:t>AD</a:t>
            </a:r>
            <a:r>
              <a:rPr lang="ru-RU" dirty="0"/>
              <a:t>:</a:t>
            </a:r>
          </a:p>
          <a:p>
            <a:r>
              <a:rPr lang="en-US" dirty="0"/>
              <a:t># </a:t>
            </a:r>
            <a:r>
              <a:rPr lang="en-US" b="1" dirty="0"/>
              <a:t>net ads </a:t>
            </a:r>
            <a:r>
              <a:rPr lang="en-US" b="1" dirty="0" err="1"/>
              <a:t>testjoin</a:t>
            </a:r>
            <a:r>
              <a:rPr lang="ru-RU" b="1" dirty="0"/>
              <a:t>, </a:t>
            </a:r>
            <a:r>
              <a:rPr lang="ru-RU" dirty="0"/>
              <a:t>то получите: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764704"/>
            <a:ext cx="3648075" cy="6953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341" y="1578402"/>
            <a:ext cx="91243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Затем войти на Альт станцию от имени ранее созданного доменного пользователя. Регистрация должна пройти успешно, появиться рабочий стол пользователя и сообщение о выданном билете безопасности службы </a:t>
            </a:r>
            <a:r>
              <a:rPr lang="en-US" dirty="0"/>
              <a:t>Kerberos </a:t>
            </a:r>
            <a:r>
              <a:rPr lang="ru-RU" dirty="0"/>
              <a:t>или о его обновлении.</a:t>
            </a:r>
            <a:endParaRPr lang="ru-RU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71" y="3080504"/>
            <a:ext cx="6117447" cy="3785715"/>
          </a:xfrm>
          <a:prstGeom prst="rect">
            <a:avLst/>
          </a:prstGeom>
        </p:spPr>
      </p:pic>
      <p:sp>
        <p:nvSpPr>
          <p:cNvPr id="7" name="AutoShape 24"/>
          <p:cNvSpPr>
            <a:spLocks noChangeShapeType="1"/>
          </p:cNvSpPr>
          <p:nvPr/>
        </p:nvSpPr>
        <p:spPr bwMode="auto">
          <a:xfrm>
            <a:off x="840870" y="2743211"/>
            <a:ext cx="4091169" cy="613781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9032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Отображение глобальных групп </a:t>
            </a:r>
            <a:r>
              <a:rPr lang="en-US" b="1" dirty="0"/>
              <a:t>AD Windows </a:t>
            </a:r>
            <a:r>
              <a:rPr lang="ru-RU" b="1" dirty="0"/>
              <a:t>на локальные</a:t>
            </a:r>
            <a:r>
              <a:rPr lang="en-US" b="1" dirty="0"/>
              <a:t> </a:t>
            </a:r>
            <a:r>
              <a:rPr lang="ru-RU" b="1" dirty="0"/>
              <a:t>группы (специальные) станции Альт </a:t>
            </a:r>
            <a:r>
              <a:rPr lang="ru-RU" b="1" dirty="0" err="1"/>
              <a:t>Линукс</a:t>
            </a:r>
            <a:endParaRPr lang="ru-RU" b="1" dirty="0"/>
          </a:p>
          <a:p>
            <a:pPr algn="ctr"/>
            <a:endParaRPr lang="ru-RU" b="1" dirty="0"/>
          </a:p>
          <a:p>
            <a:r>
              <a:rPr lang="ru-RU" dirty="0"/>
              <a:t>	При вводе машины в домен создаются следующие локальные роли: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роль пользователей (</a:t>
            </a:r>
            <a:r>
              <a:rPr lang="en-US" b="1" dirty="0"/>
              <a:t>users</a:t>
            </a:r>
            <a:r>
              <a:rPr lang="en-US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роль пользователей с расширенными правами (</a:t>
            </a:r>
            <a:r>
              <a:rPr lang="ru-RU" b="1" dirty="0" err="1"/>
              <a:t>poweruser</a:t>
            </a:r>
            <a:r>
              <a:rPr lang="ru-RU" dirty="0" err="1"/>
              <a:t>s</a:t>
            </a:r>
            <a:r>
              <a:rPr lang="ru-RU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роль локальных администраторов (</a:t>
            </a:r>
            <a:r>
              <a:rPr lang="en-US" b="1" dirty="0" err="1"/>
              <a:t>localadmins</a:t>
            </a:r>
            <a:r>
              <a:rPr lang="en-US" dirty="0"/>
              <a:t>).</a:t>
            </a:r>
          </a:p>
          <a:p>
            <a:r>
              <a:rPr lang="ru-RU" dirty="0"/>
              <a:t>	Локальные роли </a:t>
            </a:r>
            <a:r>
              <a:rPr lang="ru-RU" b="1" dirty="0" err="1"/>
              <a:t>users</a:t>
            </a:r>
            <a:r>
              <a:rPr lang="ru-RU" dirty="0"/>
              <a:t> и </a:t>
            </a:r>
            <a:r>
              <a:rPr lang="ru-RU" b="1" dirty="0" err="1"/>
              <a:t>localadmins</a:t>
            </a:r>
            <a:r>
              <a:rPr lang="ru-RU" dirty="0"/>
              <a:t> назначаются для </a:t>
            </a:r>
            <a:r>
              <a:rPr lang="ru-RU" b="1" i="1" u="sng" dirty="0"/>
              <a:t>глобальных групп</a:t>
            </a:r>
            <a:r>
              <a:rPr lang="ru-RU" dirty="0"/>
              <a:t> в домене.</a:t>
            </a:r>
          </a:p>
          <a:p>
            <a:endParaRPr lang="ru-RU" dirty="0"/>
          </a:p>
          <a:p>
            <a:r>
              <a:rPr lang="ru-RU" dirty="0"/>
              <a:t>Список назначенных ролей и привилегий можно посмотреть командой:</a:t>
            </a:r>
          </a:p>
          <a:p>
            <a:r>
              <a:rPr lang="en-US" dirty="0"/>
              <a:t># </a:t>
            </a:r>
            <a:r>
              <a:rPr lang="en-US" b="1" dirty="0" err="1"/>
              <a:t>rolelst</a:t>
            </a:r>
            <a:endParaRPr lang="en-US" b="1" dirty="0"/>
          </a:p>
          <a:p>
            <a:r>
              <a:rPr lang="en-US" dirty="0"/>
              <a:t>domain </a:t>
            </a:r>
            <a:r>
              <a:rPr lang="en-US" dirty="0" err="1"/>
              <a:t>users:users</a:t>
            </a:r>
            <a:endParaRPr lang="en-US" dirty="0"/>
          </a:p>
          <a:p>
            <a:r>
              <a:rPr lang="en-US" dirty="0"/>
              <a:t>domain </a:t>
            </a:r>
            <a:r>
              <a:rPr lang="en-US" dirty="0" err="1"/>
              <a:t>admins:localadmins</a:t>
            </a:r>
            <a:endParaRPr lang="en-US" dirty="0"/>
          </a:p>
          <a:p>
            <a:r>
              <a:rPr lang="en-US" dirty="0" err="1"/>
              <a:t>localadmins:wheel,vboxadd,vboxusers</a:t>
            </a:r>
            <a:r>
              <a:rPr lang="ru-RU" dirty="0"/>
              <a:t>,</a:t>
            </a:r>
            <a:r>
              <a:rPr lang="en-US" dirty="0" err="1"/>
              <a:t>powerusers:remote,vboxadd,vboxusers</a:t>
            </a:r>
            <a:endParaRPr lang="en-US" dirty="0"/>
          </a:p>
          <a:p>
            <a:r>
              <a:rPr lang="en-US" dirty="0"/>
              <a:t>users:cdwriter,cdrom,audio,video,proc,radio,camera,floppy,xgrp,scanner,uucp,vboxu</a:t>
            </a:r>
          </a:p>
          <a:p>
            <a:r>
              <a:rPr lang="en-US" dirty="0" err="1"/>
              <a:t>sers,fuse,vboxadd</a:t>
            </a:r>
            <a:endParaRPr lang="en-US" dirty="0"/>
          </a:p>
          <a:p>
            <a:r>
              <a:rPr lang="en-US" dirty="0" err="1"/>
              <a:t>vboxadd:vboxsf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5069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Пример выполнения команды </a:t>
            </a:r>
            <a:r>
              <a:rPr lang="en-US" b="1" dirty="0" err="1"/>
              <a:t>rolelst</a:t>
            </a:r>
            <a:r>
              <a:rPr lang="ru-RU" dirty="0"/>
              <a:t>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20688"/>
            <a:ext cx="64198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699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2436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Если нужно дать право администратора (</a:t>
            </a:r>
            <a:r>
              <a:rPr lang="en-US" dirty="0"/>
              <a:t>root</a:t>
            </a:r>
            <a:r>
              <a:rPr lang="ru-RU" dirty="0"/>
              <a:t>) станции Альт </a:t>
            </a:r>
            <a:r>
              <a:rPr lang="ru-RU" dirty="0" err="1"/>
              <a:t>Линукс</a:t>
            </a:r>
            <a:r>
              <a:rPr lang="ru-RU" dirty="0"/>
              <a:t> пользователям домена, которые не являются администраторами домена (не входят в группу </a:t>
            </a:r>
            <a:r>
              <a:rPr lang="ru-RU" b="1" dirty="0"/>
              <a:t>Администраторы домена</a:t>
            </a:r>
            <a:r>
              <a:rPr lang="ru-RU" dirty="0"/>
              <a:t>), то нужно на контроллере домена завести в AD новую глобальную группу (например, PC </a:t>
            </a:r>
            <a:r>
              <a:rPr lang="ru-RU" dirty="0" err="1"/>
              <a:t>Admins</a:t>
            </a:r>
            <a:r>
              <a:rPr lang="ru-RU" dirty="0"/>
              <a:t>). Добавить туда необходимых пользователей (например, пользователя </a:t>
            </a:r>
            <a:r>
              <a:rPr lang="ru-RU" dirty="0" err="1"/>
              <a:t>ivanov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Затем на станции Альт </a:t>
            </a:r>
            <a:r>
              <a:rPr lang="ru-RU" dirty="0" err="1"/>
              <a:t>Линукс</a:t>
            </a:r>
            <a:r>
              <a:rPr lang="ru-RU" dirty="0"/>
              <a:t>, введённой в домен, добавить роль для данной группы:</a:t>
            </a:r>
          </a:p>
          <a:p>
            <a:r>
              <a:rPr lang="en-US" dirty="0"/>
              <a:t># </a:t>
            </a:r>
            <a:r>
              <a:rPr lang="en-US" b="1" dirty="0" err="1"/>
              <a:t>roleadd</a:t>
            </a:r>
            <a:r>
              <a:rPr lang="en-US" b="1" dirty="0"/>
              <a:t> 'PC Admins' </a:t>
            </a:r>
            <a:r>
              <a:rPr lang="en-US" b="1" dirty="0" err="1"/>
              <a:t>localadmins</a:t>
            </a:r>
            <a:r>
              <a:rPr lang="ru-RU" b="1" dirty="0"/>
              <a:t> </a:t>
            </a:r>
            <a:r>
              <a:rPr lang="ru-RU" dirty="0"/>
              <a:t>и проверить:</a:t>
            </a:r>
          </a:p>
          <a:p>
            <a:r>
              <a:rPr lang="en-US" dirty="0"/>
              <a:t># </a:t>
            </a:r>
            <a:r>
              <a:rPr lang="en-US" b="1" dirty="0" err="1"/>
              <a:t>rolelst</a:t>
            </a:r>
            <a:endParaRPr lang="en-US" b="1" dirty="0"/>
          </a:p>
          <a:p>
            <a:r>
              <a:rPr lang="en-US" dirty="0"/>
              <a:t>domain </a:t>
            </a:r>
            <a:r>
              <a:rPr lang="en-US" dirty="0" err="1"/>
              <a:t>users:users</a:t>
            </a:r>
            <a:endParaRPr lang="en-US" dirty="0"/>
          </a:p>
          <a:p>
            <a:r>
              <a:rPr lang="en-US" dirty="0"/>
              <a:t>domain </a:t>
            </a:r>
            <a:r>
              <a:rPr lang="en-US" dirty="0" err="1"/>
              <a:t>admins:localadmins</a:t>
            </a:r>
            <a:endParaRPr lang="en-US" dirty="0"/>
          </a:p>
          <a:p>
            <a:r>
              <a:rPr lang="en-US" i="1" u="sng" dirty="0">
                <a:solidFill>
                  <a:srgbClr val="FF0000"/>
                </a:solidFill>
              </a:rPr>
              <a:t>pc </a:t>
            </a:r>
            <a:r>
              <a:rPr lang="en-US" i="1" u="sng" dirty="0" err="1">
                <a:solidFill>
                  <a:srgbClr val="FF0000"/>
                </a:solidFill>
              </a:rPr>
              <a:t>admins:localadmins</a:t>
            </a:r>
            <a:endParaRPr lang="en-US" i="1" u="sng" dirty="0">
              <a:solidFill>
                <a:srgbClr val="FF0000"/>
              </a:solidFill>
            </a:endParaRPr>
          </a:p>
          <a:p>
            <a:r>
              <a:rPr lang="en-US" dirty="0" err="1"/>
              <a:t>localadmins:wheel,vboxadd,vboxusers</a:t>
            </a:r>
            <a:endParaRPr lang="en-US" dirty="0"/>
          </a:p>
          <a:p>
            <a:r>
              <a:rPr lang="en-US" dirty="0" err="1"/>
              <a:t>powerusers:remote,vboxadd,vboxusers</a:t>
            </a:r>
            <a:endParaRPr lang="en-US" dirty="0"/>
          </a:p>
          <a:p>
            <a:r>
              <a:rPr lang="en-US" dirty="0"/>
              <a:t>users:cdwriter,cdrom,audio,video,proc,radio,camera,floppy,xgrp,scanner,uucp,vboxu</a:t>
            </a:r>
          </a:p>
          <a:p>
            <a:r>
              <a:rPr lang="en-US" dirty="0" err="1"/>
              <a:t>sers,fuse,vboxadd</a:t>
            </a:r>
            <a:endParaRPr lang="en-US" dirty="0"/>
          </a:p>
          <a:p>
            <a:r>
              <a:rPr lang="en-US" dirty="0" err="1"/>
              <a:t>vboxadd:vboxsf</a:t>
            </a:r>
            <a:endParaRPr lang="en-US" dirty="0"/>
          </a:p>
          <a:p>
            <a:r>
              <a:rPr lang="ru-RU" dirty="0"/>
              <a:t>После этого пользователь, входящий в группу PC </a:t>
            </a:r>
            <a:r>
              <a:rPr lang="ru-RU" dirty="0" err="1"/>
              <a:t>Admins</a:t>
            </a:r>
            <a:r>
              <a:rPr lang="ru-RU" dirty="0"/>
              <a:t>, получает </a:t>
            </a:r>
            <a:r>
              <a:rPr lang="ru-RU" dirty="0" err="1"/>
              <a:t>правор</a:t>
            </a:r>
            <a:r>
              <a:rPr lang="ru-RU" dirty="0"/>
              <a:t> регистрации на станции как </a:t>
            </a:r>
            <a:r>
              <a:rPr lang="en-US" b="1" dirty="0"/>
              <a:t>root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Проверьте, зарегистрировавшись от имени этого пользователя и выполнив в терминале команду </a:t>
            </a:r>
            <a:r>
              <a:rPr lang="en-US" b="1" dirty="0" err="1"/>
              <a:t>su</a:t>
            </a:r>
            <a:r>
              <a:rPr lang="en-US" b="1" dirty="0"/>
              <a:t> -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93705581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28652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Продолжение задания на работу: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3. Перенести учетные записи этих станций из стандартного ОП "</a:t>
            </a:r>
            <a:r>
              <a:rPr lang="en-US" sz="2000" b="1" dirty="0"/>
              <a:t>Computers</a:t>
            </a:r>
            <a:r>
              <a:rPr lang="ru-RU" sz="2000" dirty="0"/>
              <a:t>" в созданное подразделение.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4. Войти как локальный администратор на каждой из рабочих станций. Выйти.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5. Войти как администратор домена на сервере и на каждой рабочей станции. Выйти.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6. Переместить учетные записи станций из созданного ОП в стандартный контейнер "</a:t>
            </a:r>
            <a:r>
              <a:rPr lang="en-US" sz="2000" dirty="0"/>
              <a:t>Computers</a:t>
            </a:r>
            <a:r>
              <a:rPr lang="ru-RU" sz="2000" dirty="0"/>
              <a:t>", а затем вернуть назад.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9264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286520"/>
          </a:xfrm>
        </p:spPr>
        <p:txBody>
          <a:bodyPr/>
          <a:lstStyle/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8. Отключить учетную запись для одной из станций и попытаться войти в нее  как администратор домена. Включить учетную запись для этой станции и войти в нее  как администратор домена.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9. Удалить учетную запись одной из станций и попытаться войти в нее  как администратор домена. Переустановить учетную запись этой станции и снова попытаться войти в нее  как администратор домена.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1691748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286520"/>
          </a:xfrm>
        </p:spPr>
        <p:txBody>
          <a:bodyPr/>
          <a:lstStyle/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ru-RU" sz="2000" dirty="0"/>
              <a:t>10. Работа выполнена.</a:t>
            </a:r>
          </a:p>
        </p:txBody>
      </p:sp>
    </p:spTree>
    <p:extLst>
      <p:ext uri="{BB962C8B-B14F-4D97-AF65-F5344CB8AC3E}">
        <p14:creationId xmlns:p14="http://schemas.microsoft.com/office/powerpoint/2010/main" val="12596765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13417</TotalTime>
  <Words>1000</Words>
  <Application>Microsoft Office PowerPoint</Application>
  <PresentationFormat>Экран (4:3)</PresentationFormat>
  <Paragraphs>111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Wingdings</vt:lpstr>
      <vt:lpstr>Times New Roman</vt:lpstr>
      <vt:lpstr>1_Палитра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787</cp:revision>
  <cp:lastPrinted>2002-06-14T06:50:34Z</cp:lastPrinted>
  <dcterms:created xsi:type="dcterms:W3CDTF">2000-07-05T10:59:49Z</dcterms:created>
  <dcterms:modified xsi:type="dcterms:W3CDTF">2026-01-23T17:24:50Z</dcterms:modified>
</cp:coreProperties>
</file>