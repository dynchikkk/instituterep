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>
  <p:sldMasterIdLst>
    <p:sldMasterId id="2147483897" r:id="rId1"/>
  </p:sldMasterIdLst>
  <p:notesMasterIdLst>
    <p:notesMasterId r:id="rId20"/>
  </p:notesMasterIdLst>
  <p:handoutMasterIdLst>
    <p:handoutMasterId r:id="rId21"/>
  </p:handoutMasterIdLst>
  <p:sldIdLst>
    <p:sldId id="440" r:id="rId2"/>
    <p:sldId id="441" r:id="rId3"/>
    <p:sldId id="442" r:id="rId4"/>
    <p:sldId id="443" r:id="rId5"/>
    <p:sldId id="444" r:id="rId6"/>
    <p:sldId id="445" r:id="rId7"/>
    <p:sldId id="446" r:id="rId8"/>
    <p:sldId id="447" r:id="rId9"/>
    <p:sldId id="448" r:id="rId10"/>
    <p:sldId id="449" r:id="rId11"/>
    <p:sldId id="450" r:id="rId12"/>
    <p:sldId id="451" r:id="rId13"/>
    <p:sldId id="452" r:id="rId14"/>
    <p:sldId id="453" r:id="rId15"/>
    <p:sldId id="454" r:id="rId16"/>
    <p:sldId id="455" r:id="rId17"/>
    <p:sldId id="456" r:id="rId18"/>
    <p:sldId id="457" r:id="rId19"/>
  </p:sldIdLst>
  <p:sldSz cx="9144000" cy="6858000" type="screen4x3"/>
  <p:notesSz cx="6669088" cy="9926638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10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3300"/>
    <a:srgbClr val="7DFBB0"/>
    <a:srgbClr val="8893A0"/>
    <a:srgbClr val="FFD7D7"/>
    <a:srgbClr val="E3FFD9"/>
    <a:srgbClr val="CCFF99"/>
    <a:srgbClr val="F5F391"/>
    <a:srgbClr val="99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24" autoAdjust="0"/>
    <p:restoredTop sz="99515" autoAdjust="0"/>
  </p:normalViewPr>
  <p:slideViewPr>
    <p:cSldViewPr>
      <p:cViewPr varScale="1">
        <p:scale>
          <a:sx n="86" d="100"/>
          <a:sy n="86" d="100"/>
        </p:scale>
        <p:origin x="96" y="6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070"/>
    </p:cViewPr>
  </p:sorterViewPr>
  <p:notesViewPr>
    <p:cSldViewPr>
      <p:cViewPr varScale="1">
        <p:scale>
          <a:sx n="74" d="100"/>
          <a:sy n="74" d="100"/>
        </p:scale>
        <p:origin x="-2184" y="-96"/>
      </p:cViewPr>
      <p:guideLst>
        <p:guide orient="horz" pos="3126"/>
        <p:guide pos="210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8250" y="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56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8250" y="9428163"/>
            <a:ext cx="288925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BC483982-D13D-495B-8255-26CD6E6F6F5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88925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57151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8250" y="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59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52488" y="744538"/>
            <a:ext cx="4964112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6750" y="4714875"/>
            <a:ext cx="5335588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24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163"/>
            <a:ext cx="288925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4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8250" y="9428163"/>
            <a:ext cx="288925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72D661D2-CB43-412C-8931-76ECB7A853B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5968857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/>
              <a:t>Образец подзаголовка</a:t>
            </a: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03265" y="215856"/>
            <a:ext cx="7793037" cy="6223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0"/>
          </p:nvPr>
        </p:nvSpPr>
        <p:spPr>
          <a:xfrm>
            <a:off x="0" y="6492875"/>
            <a:ext cx="1030288" cy="365125"/>
          </a:xfrm>
        </p:spPr>
        <p:txBody>
          <a:bodyPr/>
          <a:lstStyle>
            <a:lvl1pPr>
              <a:defRPr baseline="0">
                <a:solidFill>
                  <a:srgbClr val="8893A0"/>
                </a:solidFill>
              </a:defRPr>
            </a:lvl1pPr>
          </a:lstStyle>
          <a:p>
            <a:pPr>
              <a:defRPr/>
            </a:pPr>
            <a:r>
              <a:rPr lang="ru-RU"/>
              <a:t>РИ-2008</a:t>
            </a: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323850" y="1052513"/>
            <a:ext cx="4238625" cy="54721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714875" y="1052513"/>
            <a:ext cx="4240213" cy="54721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 userDrawn="1"/>
        </p:nvSpPr>
        <p:spPr>
          <a:xfrm>
            <a:off x="44450" y="6532563"/>
            <a:ext cx="1643063" cy="3381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1600" dirty="0">
                <a:solidFill>
                  <a:srgbClr val="0070C0"/>
                </a:solidFill>
              </a:rPr>
              <a:t>РИ-2008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797675" y="93663"/>
            <a:ext cx="2157413" cy="6430962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323850" y="93663"/>
            <a:ext cx="6321425" cy="6430962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Only" preserve="1">
  <p:cSld name="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/>
          </p:nvPr>
        </p:nvSpPr>
        <p:spPr>
          <a:xfrm>
            <a:off x="323850" y="93663"/>
            <a:ext cx="8631238" cy="64309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dgm" preserve="1">
  <p:cSld name="Заголовок, схема или организационная диаграм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50938" y="93663"/>
            <a:ext cx="7793037" cy="6223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SmartArt 2"/>
          <p:cNvSpPr>
            <a:spLocks noGrp="1"/>
          </p:cNvSpPr>
          <p:nvPr>
            <p:ph type="dgm" idx="1"/>
          </p:nvPr>
        </p:nvSpPr>
        <p:spPr>
          <a:xfrm>
            <a:off x="323850" y="1052513"/>
            <a:ext cx="8631238" cy="5472112"/>
          </a:xfrm>
        </p:spPr>
        <p:txBody>
          <a:bodyPr/>
          <a:lstStyle/>
          <a:p>
            <a:pPr lvl="0"/>
            <a:endParaRPr lang="ru-RU" noProof="0"/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OverTx" preserve="1">
  <p:cSld name="Заголовок и объект над текст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50938" y="93663"/>
            <a:ext cx="7793037" cy="6223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323850" y="1052513"/>
            <a:ext cx="8631238" cy="26590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323850" y="3863975"/>
            <a:ext cx="8631238" cy="266065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bl" preserve="1">
  <p:cSld name="Заголовок и 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50938" y="93663"/>
            <a:ext cx="7793037" cy="6223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аблица 2"/>
          <p:cNvSpPr>
            <a:spLocks noGrp="1"/>
          </p:cNvSpPr>
          <p:nvPr>
            <p:ph type="tbl" idx="1"/>
          </p:nvPr>
        </p:nvSpPr>
        <p:spPr>
          <a:xfrm>
            <a:off x="323850" y="1052513"/>
            <a:ext cx="8631238" cy="5472112"/>
          </a:xfrm>
        </p:spPr>
        <p:txBody>
          <a:bodyPr/>
          <a:lstStyle/>
          <a:p>
            <a:pPr lvl="0"/>
            <a:endParaRPr lang="ru-RU" noProof="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45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93663"/>
            <a:ext cx="7793037" cy="622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5123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3850" y="1052513"/>
            <a:ext cx="8631238" cy="5472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321547" name="Rectangle 11"/>
          <p:cNvSpPr>
            <a:spLocks noChangeArrowheads="1"/>
          </p:cNvSpPr>
          <p:nvPr userDrawn="1"/>
        </p:nvSpPr>
        <p:spPr bwMode="auto">
          <a:xfrm>
            <a:off x="323850" y="6596063"/>
            <a:ext cx="8640763" cy="36512"/>
          </a:xfrm>
          <a:prstGeom prst="rect">
            <a:avLst/>
          </a:prstGeom>
          <a:solidFill>
            <a:srgbClr val="E0E0E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/>
          </a:p>
        </p:txBody>
      </p:sp>
      <p:sp>
        <p:nvSpPr>
          <p:cNvPr id="321548" name="Rectangle 12"/>
          <p:cNvSpPr>
            <a:spLocks noChangeArrowheads="1"/>
          </p:cNvSpPr>
          <p:nvPr userDrawn="1"/>
        </p:nvSpPr>
        <p:spPr bwMode="auto">
          <a:xfrm>
            <a:off x="323850" y="6669088"/>
            <a:ext cx="8640763" cy="36512"/>
          </a:xfrm>
          <a:prstGeom prst="rect">
            <a:avLst/>
          </a:prstGeom>
          <a:solidFill>
            <a:srgbClr val="E0E0E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/>
          </a:p>
        </p:txBody>
      </p:sp>
      <p:sp>
        <p:nvSpPr>
          <p:cNvPr id="321549" name="Rectangle 13"/>
          <p:cNvSpPr>
            <a:spLocks noChangeArrowheads="1"/>
          </p:cNvSpPr>
          <p:nvPr userDrawn="1"/>
        </p:nvSpPr>
        <p:spPr bwMode="auto">
          <a:xfrm>
            <a:off x="323850" y="6740525"/>
            <a:ext cx="8640763" cy="36513"/>
          </a:xfrm>
          <a:prstGeom prst="rect">
            <a:avLst/>
          </a:prstGeom>
          <a:solidFill>
            <a:srgbClr val="E0E0E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/>
          </a:p>
        </p:txBody>
      </p:sp>
      <p:sp>
        <p:nvSpPr>
          <p:cNvPr id="321550" name="Rectangle 14"/>
          <p:cNvSpPr>
            <a:spLocks noChangeArrowheads="1"/>
          </p:cNvSpPr>
          <p:nvPr userDrawn="1"/>
        </p:nvSpPr>
        <p:spPr bwMode="auto">
          <a:xfrm>
            <a:off x="323850" y="6813550"/>
            <a:ext cx="8640763" cy="36513"/>
          </a:xfrm>
          <a:prstGeom prst="rect">
            <a:avLst/>
          </a:prstGeom>
          <a:solidFill>
            <a:srgbClr val="E0E0E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/>
          </a:p>
        </p:txBody>
      </p:sp>
      <p:sp>
        <p:nvSpPr>
          <p:cNvPr id="321552" name="Text Box 16"/>
          <p:cNvSpPr txBox="1">
            <a:spLocks noChangeArrowheads="1"/>
          </p:cNvSpPr>
          <p:nvPr userDrawn="1"/>
        </p:nvSpPr>
        <p:spPr bwMode="auto">
          <a:xfrm>
            <a:off x="7077075" y="6562725"/>
            <a:ext cx="20193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fld id="{AD2A1C4A-0E95-4010-821B-7B4B7286FD9D}" type="slidenum">
              <a:rPr lang="ru-RU" sz="1400" b="1"/>
              <a:pPr algn="r">
                <a:spcBef>
                  <a:spcPct val="50000"/>
                </a:spcBef>
                <a:defRPr/>
              </a:pPr>
              <a:t>‹#›</a:t>
            </a:fld>
            <a:endParaRPr lang="ru-RU" sz="1400" b="1">
              <a:solidFill>
                <a:srgbClr val="B2B2B2"/>
              </a:solidFill>
            </a:endParaRPr>
          </a:p>
        </p:txBody>
      </p:sp>
      <p:sp>
        <p:nvSpPr>
          <p:cNvPr id="9" name="Нижний колонтитул 8"/>
          <p:cNvSpPr>
            <a:spLocks noGrp="1"/>
          </p:cNvSpPr>
          <p:nvPr>
            <p:ph type="ftr" sz="quarter" idx="3"/>
          </p:nvPr>
        </p:nvSpPr>
        <p:spPr>
          <a:xfrm>
            <a:off x="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0070C0"/>
                </a:solidFill>
              </a:defRPr>
            </a:lvl1pPr>
          </a:lstStyle>
          <a:p>
            <a:pPr>
              <a:defRPr/>
            </a:pPr>
            <a:r>
              <a:rPr lang="ru-RU"/>
              <a:t>РИ-2008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94" r:id="rId1"/>
    <p:sldLayoutId id="2147484095" r:id="rId2"/>
    <p:sldLayoutId id="2147484096" r:id="rId3"/>
    <p:sldLayoutId id="2147484097" r:id="rId4"/>
    <p:sldLayoutId id="2147484098" r:id="rId5"/>
    <p:sldLayoutId id="2147484099" r:id="rId6"/>
    <p:sldLayoutId id="2147484100" r:id="rId7"/>
    <p:sldLayoutId id="2147484101" r:id="rId8"/>
    <p:sldLayoutId id="2147484102" r:id="rId9"/>
    <p:sldLayoutId id="2147484103" r:id="rId10"/>
    <p:sldLayoutId id="2147484104" r:id="rId11"/>
    <p:sldLayoutId id="2147484105" r:id="rId12"/>
    <p:sldLayoutId id="2147484106" r:id="rId13"/>
    <p:sldLayoutId id="2147484107" r:id="rId14"/>
    <p:sldLayoutId id="2147484108" r:id="rId15"/>
  </p:sldLayoutIdLst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1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1545" grpId="0"/>
    </p:bldLst>
  </p:timing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Содержимое 1"/>
          <p:cNvSpPr>
            <a:spLocks noGrp="1"/>
          </p:cNvSpPr>
          <p:nvPr>
            <p:ph/>
          </p:nvPr>
        </p:nvSpPr>
        <p:spPr>
          <a:xfrm>
            <a:off x="0" y="1785926"/>
            <a:ext cx="9143999" cy="1759750"/>
          </a:xfrm>
        </p:spPr>
        <p:txBody>
          <a:bodyPr/>
          <a:lstStyle/>
          <a:p>
            <a:pPr marL="0" indent="0" algn="ctr">
              <a:buNone/>
            </a:pPr>
            <a:r>
              <a:rPr lang="ru-RU" sz="3600" b="1" dirty="0"/>
              <a:t>Лабораторная </a:t>
            </a:r>
            <a:r>
              <a:rPr lang="ru-RU" sz="3600" b="1"/>
              <a:t>работа №1</a:t>
            </a:r>
            <a:endParaRPr lang="ru-RU" sz="3600" b="1" dirty="0"/>
          </a:p>
          <a:p>
            <a:pPr marL="0" indent="0" algn="ctr">
              <a:buNone/>
            </a:pPr>
            <a:endParaRPr lang="ru-RU" sz="3600" b="1" dirty="0"/>
          </a:p>
          <a:p>
            <a:pPr marL="0" indent="0">
              <a:buNone/>
            </a:pPr>
            <a:endParaRPr lang="ru-RU" sz="3600" kern="1200" dirty="0">
              <a:latin typeface="Arial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Содержимое 1"/>
          <p:cNvSpPr>
            <a:spLocks noGrp="1"/>
          </p:cNvSpPr>
          <p:nvPr>
            <p:ph/>
          </p:nvPr>
        </p:nvSpPr>
        <p:spPr>
          <a:xfrm>
            <a:off x="0" y="-8589"/>
            <a:ext cx="9144000" cy="6430962"/>
          </a:xfrm>
        </p:spPr>
        <p:txBody>
          <a:bodyPr/>
          <a:lstStyle/>
          <a:p>
            <a:pPr algn="ctr">
              <a:buNone/>
            </a:pPr>
            <a:endParaRPr lang="en-US" sz="1800" b="1" dirty="0"/>
          </a:p>
          <a:p>
            <a:pPr algn="ctr">
              <a:buNone/>
            </a:pPr>
            <a:r>
              <a:rPr lang="ru-RU" sz="1800" b="1" dirty="0"/>
              <a:t>Установка ОС </a:t>
            </a:r>
            <a:r>
              <a:rPr lang="en-US" sz="1800" b="1" dirty="0"/>
              <a:t>Windows 2012 Server </a:t>
            </a:r>
            <a:r>
              <a:rPr lang="ru-RU" sz="1800" b="1" dirty="0"/>
              <a:t>и начальная настройка сервера. </a:t>
            </a:r>
            <a:endParaRPr lang="en-US" sz="1800" b="1" dirty="0"/>
          </a:p>
          <a:p>
            <a:pPr algn="ctr">
              <a:buNone/>
            </a:pPr>
            <a:endParaRPr lang="ru-RU" sz="1800" b="1" u="sng" dirty="0">
              <a:solidFill>
                <a:schemeClr val="accent1">
                  <a:lumMod val="50000"/>
                </a:schemeClr>
              </a:solidFill>
            </a:endParaRPr>
          </a:p>
          <a:p>
            <a:pPr>
              <a:buNone/>
            </a:pPr>
            <a:r>
              <a:rPr lang="ru-RU" sz="1600" b="1" u="sng" dirty="0"/>
              <a:t>Тема работы:</a:t>
            </a:r>
            <a:r>
              <a:rPr lang="ru-RU" sz="1600" b="1" dirty="0"/>
              <a:t> </a:t>
            </a:r>
            <a:r>
              <a:rPr lang="ru-RU" sz="1800" dirty="0"/>
              <a:t>Создание виртуальной машины </a:t>
            </a:r>
            <a:r>
              <a:rPr lang="en-US" sz="1800" dirty="0"/>
              <a:t>c </a:t>
            </a:r>
            <a:r>
              <a:rPr lang="ru-RU" sz="1800" dirty="0"/>
              <a:t>ОС </a:t>
            </a:r>
            <a:r>
              <a:rPr lang="en-US" sz="1800" dirty="0"/>
              <a:t>Windows 2012 Server</a:t>
            </a:r>
            <a:endParaRPr lang="ru-RU" sz="1800" dirty="0"/>
          </a:p>
          <a:p>
            <a:pPr>
              <a:buNone/>
            </a:pPr>
            <a:endParaRPr lang="ru-RU" sz="1800" dirty="0"/>
          </a:p>
          <a:p>
            <a:pPr marL="0" indent="342900">
              <a:spcBef>
                <a:spcPts val="0"/>
              </a:spcBef>
              <a:buNone/>
            </a:pPr>
            <a:r>
              <a:rPr lang="ru-RU" sz="1800" dirty="0"/>
              <a:t>Запустить </a:t>
            </a:r>
            <a:r>
              <a:rPr lang="en-US" sz="1800" dirty="0" err="1"/>
              <a:t>VirtualBox</a:t>
            </a:r>
            <a:r>
              <a:rPr lang="ru-RU" sz="1800" dirty="0"/>
              <a:t> и в</a:t>
            </a:r>
            <a:r>
              <a:rPr lang="en-US" sz="1800" dirty="0" err="1"/>
              <a:t>ыполнить</a:t>
            </a:r>
            <a:r>
              <a:rPr lang="en-US" sz="1800" dirty="0"/>
              <a:t> </a:t>
            </a:r>
            <a:r>
              <a:rPr lang="ru-RU" sz="1800" dirty="0"/>
              <a:t>ее </a:t>
            </a:r>
            <a:r>
              <a:rPr lang="en-US" sz="1800" dirty="0" err="1"/>
              <a:t>настройку</a:t>
            </a:r>
            <a:r>
              <a:rPr lang="ru-RU" sz="1800" dirty="0"/>
              <a:t> для создания виртуальной машины </a:t>
            </a:r>
            <a:r>
              <a:rPr lang="en-US" sz="1800" dirty="0"/>
              <a:t>Windows 2012 Server:</a:t>
            </a:r>
            <a:endParaRPr lang="ru-RU" sz="1800" dirty="0"/>
          </a:p>
          <a:p>
            <a:pPr>
              <a:buClr>
                <a:schemeClr val="tx1"/>
              </a:buClr>
              <a:buSzPct val="100000"/>
              <a:buAutoNum type="arabicPeriod"/>
            </a:pPr>
            <a:r>
              <a:rPr lang="ru-RU" sz="1800" dirty="0"/>
              <a:t>В </a:t>
            </a:r>
            <a:r>
              <a:rPr lang="en-US" sz="1800" dirty="0"/>
              <a:t>VirtualBox</a:t>
            </a:r>
            <a:r>
              <a:rPr lang="ru-RU" sz="1800" dirty="0"/>
              <a:t> указать место на диске для создаваемой виртуальной машины</a:t>
            </a:r>
            <a:r>
              <a:rPr lang="en-US" sz="1800" dirty="0"/>
              <a:t>:</a:t>
            </a:r>
          </a:p>
          <a:p>
            <a:pPr marL="0" indent="0">
              <a:buClr>
                <a:schemeClr val="tx1"/>
              </a:buClr>
              <a:buSzPct val="100000"/>
              <a:buNone/>
            </a:pPr>
            <a:r>
              <a:rPr lang="ru-RU" sz="1800" b="1" dirty="0"/>
              <a:t>Файл</a:t>
            </a:r>
            <a:r>
              <a:rPr lang="en-US" sz="1800" b="1" dirty="0">
                <a:sym typeface="Wingdings" pitchFamily="2" charset="2"/>
              </a:rPr>
              <a:t></a:t>
            </a:r>
            <a:r>
              <a:rPr lang="ru-RU" sz="1800" b="1" dirty="0"/>
              <a:t>Настройки</a:t>
            </a:r>
            <a:r>
              <a:rPr lang="en-US" sz="1800" b="1" dirty="0">
                <a:sym typeface="Wingdings" pitchFamily="2" charset="2"/>
              </a:rPr>
              <a:t></a:t>
            </a:r>
            <a:r>
              <a:rPr lang="ru-RU" sz="1800" b="1" dirty="0"/>
              <a:t>Общие</a:t>
            </a:r>
            <a:r>
              <a:rPr lang="en-US" sz="1800" b="1" dirty="0">
                <a:sym typeface="Wingdings" pitchFamily="2" charset="2"/>
              </a:rPr>
              <a:t></a:t>
            </a:r>
            <a:r>
              <a:rPr lang="ru-RU" sz="1800" b="1" dirty="0"/>
              <a:t>Папка для машин по умолчанию</a:t>
            </a:r>
            <a:endParaRPr lang="en-US" sz="1800" dirty="0"/>
          </a:p>
          <a:p>
            <a:pPr marL="0" indent="0">
              <a:buClr>
                <a:schemeClr val="tx1"/>
              </a:buClr>
              <a:buSzPct val="100000"/>
              <a:buNone/>
            </a:pPr>
            <a:r>
              <a:rPr lang="ru-RU" sz="1800" dirty="0"/>
              <a:t> </a:t>
            </a:r>
            <a:r>
              <a:rPr lang="en-US" sz="1800" dirty="0"/>
              <a:t>(</a:t>
            </a:r>
            <a:r>
              <a:rPr lang="ru-RU" sz="1800" dirty="0"/>
              <a:t>устанавливать виртуальные машины только сюда !!!</a:t>
            </a:r>
            <a:r>
              <a:rPr lang="en-US" sz="1800" dirty="0"/>
              <a:t>)</a:t>
            </a:r>
            <a:r>
              <a:rPr lang="ru-RU" sz="1800" dirty="0"/>
              <a:t>:</a:t>
            </a:r>
          </a:p>
          <a:p>
            <a:pPr>
              <a:buClr>
                <a:schemeClr val="tx1"/>
              </a:buClr>
              <a:buSzPct val="100000"/>
              <a:buNone/>
            </a:pPr>
            <a:r>
              <a:rPr lang="ru-RU" sz="1800" dirty="0"/>
              <a:t>	</a:t>
            </a:r>
            <a:r>
              <a:rPr lang="ru-RU" sz="1800" dirty="0">
                <a:sym typeface="Wingdings" pitchFamily="2" charset="2"/>
              </a:rPr>
              <a:t>для группы ВВ</a:t>
            </a:r>
            <a:r>
              <a:rPr lang="en-US" sz="1800" dirty="0">
                <a:sym typeface="Wingdings" pitchFamily="2" charset="2"/>
              </a:rPr>
              <a:t>1</a:t>
            </a:r>
            <a:r>
              <a:rPr lang="ru-RU" sz="1800" dirty="0">
                <a:sym typeface="Wingdings" pitchFamily="2" charset="2"/>
              </a:rPr>
              <a:t> - </a:t>
            </a:r>
            <a:r>
              <a:rPr lang="en-US" sz="1800" b="1" u="sng" dirty="0">
                <a:solidFill>
                  <a:srgbClr val="FF0000"/>
                </a:solidFill>
              </a:rPr>
              <a:t>D:</a:t>
            </a:r>
            <a:r>
              <a:rPr lang="ru-RU" sz="1800" b="1" u="sng" dirty="0">
                <a:solidFill>
                  <a:srgbClr val="FF0000"/>
                </a:solidFill>
              </a:rPr>
              <a:t>\</a:t>
            </a:r>
            <a:r>
              <a:rPr lang="en-US" sz="1800" b="1" u="sng" dirty="0">
                <a:solidFill>
                  <a:srgbClr val="FF0000"/>
                </a:solidFill>
              </a:rPr>
              <a:t>Users</a:t>
            </a:r>
            <a:r>
              <a:rPr lang="ru-RU" sz="1800" b="1" u="sng" dirty="0">
                <a:solidFill>
                  <a:srgbClr val="FF0000"/>
                </a:solidFill>
              </a:rPr>
              <a:t>\</a:t>
            </a:r>
            <a:r>
              <a:rPr lang="en-US" sz="1800" b="1" u="sng" dirty="0" err="1">
                <a:solidFill>
                  <a:srgbClr val="FF0000"/>
                </a:solidFill>
              </a:rPr>
              <a:t>iamv</a:t>
            </a:r>
            <a:r>
              <a:rPr lang="ru-RU" sz="1800" b="1" u="sng" dirty="0">
                <a:solidFill>
                  <a:srgbClr val="FF0000"/>
                </a:solidFill>
              </a:rPr>
              <a:t> </a:t>
            </a:r>
            <a:r>
              <a:rPr lang="en-US" sz="1800" b="1" u="sng" dirty="0">
                <a:solidFill>
                  <a:srgbClr val="FF0000"/>
                </a:solidFill>
              </a:rPr>
              <a:t>\</a:t>
            </a:r>
            <a:r>
              <a:rPr lang="en-US" sz="1800" b="1" u="sng" dirty="0" err="1">
                <a:solidFill>
                  <a:srgbClr val="FF0000"/>
                </a:solidFill>
              </a:rPr>
              <a:t>VirtualBox</a:t>
            </a:r>
            <a:r>
              <a:rPr lang="en-US" sz="1800" b="1" u="sng" dirty="0">
                <a:solidFill>
                  <a:srgbClr val="FF0000"/>
                </a:solidFill>
              </a:rPr>
              <a:t> VMs</a:t>
            </a:r>
            <a:r>
              <a:rPr lang="ru-RU" sz="1800" b="1" u="sng" dirty="0">
                <a:solidFill>
                  <a:srgbClr val="FF0000"/>
                </a:solidFill>
              </a:rPr>
              <a:t>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sz="1800" dirty="0">
                <a:sym typeface="Wingdings" pitchFamily="2" charset="2"/>
              </a:rPr>
              <a:t>для группы ВО</a:t>
            </a:r>
            <a:r>
              <a:rPr lang="en-US" sz="1800" dirty="0">
                <a:sym typeface="Wingdings" pitchFamily="2" charset="2"/>
              </a:rPr>
              <a:t>  </a:t>
            </a:r>
            <a:r>
              <a:rPr lang="ru-RU" sz="1800" dirty="0">
                <a:sym typeface="Wingdings" pitchFamily="2" charset="2"/>
              </a:rPr>
              <a:t> - </a:t>
            </a:r>
            <a:r>
              <a:rPr lang="en-US" sz="1800" b="1" u="sng" dirty="0">
                <a:solidFill>
                  <a:srgbClr val="FF0000"/>
                </a:solidFill>
              </a:rPr>
              <a:t>D:</a:t>
            </a:r>
            <a:r>
              <a:rPr lang="ru-RU" sz="1800" b="1" u="sng" dirty="0">
                <a:solidFill>
                  <a:srgbClr val="FF0000"/>
                </a:solidFill>
              </a:rPr>
              <a:t>\</a:t>
            </a:r>
            <a:r>
              <a:rPr lang="en-US" sz="1800" b="1" u="sng" dirty="0">
                <a:solidFill>
                  <a:srgbClr val="FF0000"/>
                </a:solidFill>
              </a:rPr>
              <a:t>Users</a:t>
            </a:r>
            <a:r>
              <a:rPr lang="ru-RU" sz="1800" b="1" u="sng" dirty="0">
                <a:solidFill>
                  <a:srgbClr val="FF0000"/>
                </a:solidFill>
              </a:rPr>
              <a:t>\</a:t>
            </a:r>
            <a:r>
              <a:rPr lang="en-US" sz="1800" b="1" u="sng" dirty="0" err="1">
                <a:solidFill>
                  <a:srgbClr val="FF0000"/>
                </a:solidFill>
              </a:rPr>
              <a:t>iamo</a:t>
            </a:r>
            <a:r>
              <a:rPr lang="ru-RU" sz="1800" b="1" u="sng" dirty="0">
                <a:solidFill>
                  <a:srgbClr val="FF0000"/>
                </a:solidFill>
              </a:rPr>
              <a:t> </a:t>
            </a:r>
            <a:r>
              <a:rPr lang="en-US" sz="1800" b="1" u="sng" dirty="0">
                <a:solidFill>
                  <a:srgbClr val="FF0000"/>
                </a:solidFill>
              </a:rPr>
              <a:t>\</a:t>
            </a:r>
            <a:r>
              <a:rPr lang="en-US" sz="1800" b="1" u="sng" dirty="0" err="1">
                <a:solidFill>
                  <a:srgbClr val="FF0000"/>
                </a:solidFill>
              </a:rPr>
              <a:t>VirtualBox</a:t>
            </a:r>
            <a:r>
              <a:rPr lang="en-US" sz="1800" b="1" u="sng" dirty="0">
                <a:solidFill>
                  <a:srgbClr val="FF0000"/>
                </a:solidFill>
              </a:rPr>
              <a:t> VMs</a:t>
            </a:r>
            <a:r>
              <a:rPr lang="ru-RU" sz="1800" b="1" u="sng" dirty="0">
                <a:solidFill>
                  <a:srgbClr val="FF0000"/>
                </a:solidFill>
              </a:rPr>
              <a:t>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sz="1800" dirty="0">
                <a:sym typeface="Wingdings" pitchFamily="2" charset="2"/>
              </a:rPr>
              <a:t>для групп ВП      - </a:t>
            </a:r>
            <a:r>
              <a:rPr lang="en-US" sz="1800" b="1" u="sng" dirty="0">
                <a:solidFill>
                  <a:srgbClr val="FF0000"/>
                </a:solidFill>
              </a:rPr>
              <a:t>D:</a:t>
            </a:r>
            <a:r>
              <a:rPr lang="ru-RU" sz="1800" b="1" u="sng" dirty="0">
                <a:solidFill>
                  <a:srgbClr val="FF0000"/>
                </a:solidFill>
              </a:rPr>
              <a:t>\</a:t>
            </a:r>
            <a:r>
              <a:rPr lang="en-US" sz="1800" b="1" u="sng" dirty="0">
                <a:solidFill>
                  <a:srgbClr val="FF0000"/>
                </a:solidFill>
              </a:rPr>
              <a:t>Users</a:t>
            </a:r>
            <a:r>
              <a:rPr lang="ru-RU" sz="1800" b="1" u="sng" dirty="0">
                <a:solidFill>
                  <a:srgbClr val="FF0000"/>
                </a:solidFill>
              </a:rPr>
              <a:t>\</a:t>
            </a:r>
            <a:r>
              <a:rPr lang="en-US" sz="1800" b="1" u="sng" dirty="0" err="1">
                <a:solidFill>
                  <a:srgbClr val="FF0000"/>
                </a:solidFill>
              </a:rPr>
              <a:t>iamp</a:t>
            </a:r>
            <a:r>
              <a:rPr lang="ru-RU" sz="1800" b="1" u="sng" dirty="0">
                <a:solidFill>
                  <a:srgbClr val="FF0000"/>
                </a:solidFill>
              </a:rPr>
              <a:t> </a:t>
            </a:r>
            <a:r>
              <a:rPr lang="en-US" sz="1800" b="1" u="sng" dirty="0">
                <a:solidFill>
                  <a:srgbClr val="FF0000"/>
                </a:solidFill>
              </a:rPr>
              <a:t>\VirtualBox VMs</a:t>
            </a:r>
            <a:r>
              <a:rPr lang="ru-RU" sz="1800" b="1" u="sng" dirty="0">
                <a:solidFill>
                  <a:srgbClr val="FF0000"/>
                </a:solidFill>
              </a:rPr>
              <a:t>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sz="1800" dirty="0"/>
              <a:t>для групп ВИ      </a:t>
            </a:r>
            <a:r>
              <a:rPr lang="ru-RU" sz="1800" b="1" u="sng" dirty="0">
                <a:solidFill>
                  <a:srgbClr val="FF0000"/>
                </a:solidFill>
              </a:rPr>
              <a:t>- </a:t>
            </a:r>
            <a:r>
              <a:rPr lang="en-US" sz="1800" b="1" u="sng" dirty="0">
                <a:solidFill>
                  <a:srgbClr val="FF0000"/>
                </a:solidFill>
              </a:rPr>
              <a:t>D:\Users\iami \VirtualBox VMs;</a:t>
            </a:r>
            <a:endParaRPr lang="ru-RU" sz="1800" dirty="0">
              <a:sym typeface="Wingdings" pitchFamily="2" charset="2"/>
            </a:endParaRPr>
          </a:p>
          <a:p>
            <a:pPr>
              <a:buNone/>
            </a:pPr>
            <a:r>
              <a:rPr lang="en-US" sz="1800" dirty="0"/>
              <a:t>2. </a:t>
            </a:r>
            <a:r>
              <a:rPr lang="ru-RU" sz="1800" dirty="0"/>
              <a:t>Убрать обновления для </a:t>
            </a:r>
            <a:r>
              <a:rPr lang="ru-RU" sz="1800" dirty="0" err="1"/>
              <a:t>VirtuaBox</a:t>
            </a:r>
            <a:r>
              <a:rPr lang="ru-RU" sz="1800" dirty="0"/>
              <a:t>: </a:t>
            </a:r>
            <a:r>
              <a:rPr lang="ru-RU" sz="1800" b="1" dirty="0"/>
              <a:t>Файл-&gt;Настройки-&gt;Обновления --</a:t>
            </a:r>
            <a:r>
              <a:rPr lang="ru-RU" sz="1800" dirty="0"/>
              <a:t>&gt; убрать "</a:t>
            </a:r>
            <a:r>
              <a:rPr lang="ru-RU" sz="1800" b="1" dirty="0"/>
              <a:t>Проверять обновления</a:t>
            </a:r>
            <a:r>
              <a:rPr lang="ru-RU" sz="1800" dirty="0"/>
              <a:t>".</a:t>
            </a:r>
          </a:p>
          <a:p>
            <a:pPr>
              <a:buNone/>
            </a:pPr>
            <a:r>
              <a:rPr lang="ru-RU" sz="1800" dirty="0"/>
              <a:t>3. Установить управление мышью: </a:t>
            </a:r>
            <a:r>
              <a:rPr lang="ru-RU" sz="1800" b="1" dirty="0"/>
              <a:t>Файл-&gt;Дисплей-&gt;Окна машины-&gt;Активировать при наведении мыши.</a:t>
            </a:r>
          </a:p>
        </p:txBody>
      </p:sp>
    </p:spTree>
    <p:extLst>
      <p:ext uri="{BB962C8B-B14F-4D97-AF65-F5344CB8AC3E}">
        <p14:creationId xmlns:p14="http://schemas.microsoft.com/office/powerpoint/2010/main" val="899829399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Содержимое 1"/>
          <p:cNvSpPr>
            <a:spLocks noGrp="1"/>
          </p:cNvSpPr>
          <p:nvPr>
            <p:ph/>
          </p:nvPr>
        </p:nvSpPr>
        <p:spPr>
          <a:xfrm>
            <a:off x="0" y="0"/>
            <a:ext cx="9144000" cy="2357430"/>
          </a:xfrm>
        </p:spPr>
        <p:txBody>
          <a:bodyPr/>
          <a:lstStyle/>
          <a:p>
            <a:pPr algn="ctr">
              <a:buNone/>
            </a:pPr>
            <a:r>
              <a:rPr lang="en-US" sz="1800" b="1" dirty="0" err="1"/>
              <a:t>Установка</a:t>
            </a:r>
            <a:r>
              <a:rPr lang="en-US" sz="1600" b="1" dirty="0"/>
              <a:t> ОС Windows 2012 Server</a:t>
            </a:r>
            <a:endParaRPr lang="ru-RU" sz="1600" dirty="0"/>
          </a:p>
          <a:p>
            <a:pPr>
              <a:buNone/>
            </a:pPr>
            <a:r>
              <a:rPr lang="ru-RU" sz="1800" dirty="0"/>
              <a:t>1. Выбрать в </a:t>
            </a:r>
            <a:r>
              <a:rPr lang="en-US" sz="1800" dirty="0" err="1"/>
              <a:t>VirtualBox</a:t>
            </a:r>
            <a:r>
              <a:rPr lang="en-US" sz="1800" dirty="0"/>
              <a:t> </a:t>
            </a:r>
            <a:r>
              <a:rPr lang="ru-RU" sz="1800" dirty="0"/>
              <a:t>ОС: </a:t>
            </a:r>
            <a:r>
              <a:rPr lang="ru-RU" sz="1800" b="1" dirty="0"/>
              <a:t>Создать -</a:t>
            </a:r>
            <a:r>
              <a:rPr lang="en-US" sz="1800" b="1" dirty="0"/>
              <a:t>&gt; </a:t>
            </a:r>
            <a:r>
              <a:rPr lang="ru-RU" sz="1800" dirty="0"/>
              <a:t>Server2012,</a:t>
            </a:r>
            <a:r>
              <a:rPr lang="en-US" sz="1800" dirty="0"/>
              <a:t> Microsoft Windows, Windows 2012 (64-bit).</a:t>
            </a:r>
            <a:endParaRPr lang="ru-RU" sz="18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4414" y="1214421"/>
            <a:ext cx="5715040" cy="49285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005058653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Содержимое 1"/>
          <p:cNvSpPr>
            <a:spLocks noGrp="1"/>
          </p:cNvSpPr>
          <p:nvPr>
            <p:ph/>
          </p:nvPr>
        </p:nvSpPr>
        <p:spPr>
          <a:xfrm>
            <a:off x="0" y="0"/>
            <a:ext cx="9144000" cy="2357430"/>
          </a:xfrm>
        </p:spPr>
        <p:txBody>
          <a:bodyPr/>
          <a:lstStyle/>
          <a:p>
            <a:pPr>
              <a:buNone/>
            </a:pPr>
            <a:r>
              <a:rPr lang="ru-RU" sz="1800" dirty="0"/>
              <a:t>2. Объем памяти по умолчанию (2 Гб).</a:t>
            </a:r>
          </a:p>
          <a:p>
            <a:pPr>
              <a:buNone/>
            </a:pPr>
            <a:r>
              <a:rPr lang="ru-RU" sz="1800" dirty="0"/>
              <a:t>3. Создать новый виртуальный жесткий диск.</a:t>
            </a:r>
          </a:p>
          <a:p>
            <a:pPr>
              <a:buNone/>
            </a:pPr>
            <a:r>
              <a:rPr lang="ru-RU" sz="1800" dirty="0"/>
              <a:t>4. Диск – VDI </a:t>
            </a:r>
            <a:r>
              <a:rPr lang="en-US" sz="1800" dirty="0"/>
              <a:t>(Virtual Disk Image).</a:t>
            </a:r>
            <a:endParaRPr lang="ru-RU" sz="1800" dirty="0"/>
          </a:p>
          <a:p>
            <a:pPr>
              <a:buNone/>
            </a:pPr>
            <a:r>
              <a:rPr lang="ru-RU" sz="1800" dirty="0"/>
              <a:t>5. Тип диска – динамический виртуальный жесткий диск.</a:t>
            </a:r>
          </a:p>
        </p:txBody>
      </p:sp>
      <p:pic>
        <p:nvPicPr>
          <p:cNvPr id="3" name="Рисунок 2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1928802"/>
            <a:ext cx="6786610" cy="4000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5" name="Прямая со стрелкой 4"/>
          <p:cNvCxnSpPr/>
          <p:nvPr/>
        </p:nvCxnSpPr>
        <p:spPr>
          <a:xfrm>
            <a:off x="1285852" y="1214422"/>
            <a:ext cx="333820" cy="2142570"/>
          </a:xfrm>
          <a:prstGeom prst="straightConnector1">
            <a:avLst/>
          </a:prstGeom>
          <a:ln w="158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 стрелкой 6"/>
          <p:cNvCxnSpPr/>
          <p:nvPr/>
        </p:nvCxnSpPr>
        <p:spPr>
          <a:xfrm>
            <a:off x="2428860" y="1571612"/>
            <a:ext cx="1639084" cy="1785380"/>
          </a:xfrm>
          <a:prstGeom prst="straightConnector1">
            <a:avLst/>
          </a:prstGeom>
          <a:ln w="158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7033715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Содержимое 1"/>
          <p:cNvSpPr>
            <a:spLocks noGrp="1"/>
          </p:cNvSpPr>
          <p:nvPr>
            <p:ph/>
          </p:nvPr>
        </p:nvSpPr>
        <p:spPr>
          <a:xfrm>
            <a:off x="0" y="0"/>
            <a:ext cx="9144000" cy="157161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ru-RU" sz="1800" dirty="0"/>
              <a:t>6. Размер диска – 50 Гб.</a:t>
            </a:r>
          </a:p>
          <a:p>
            <a:pPr>
              <a:buNone/>
            </a:pPr>
            <a:r>
              <a:rPr lang="ru-RU" sz="1800" dirty="0"/>
              <a:t>7. Левая кнопка мыши, контекстное меню, </a:t>
            </a:r>
            <a:r>
              <a:rPr lang="ru-RU" sz="1800" b="1" dirty="0"/>
              <a:t>Запустить</a:t>
            </a:r>
            <a:r>
              <a:rPr lang="ru-RU" sz="1800" dirty="0"/>
              <a:t> созданную машину: указать местоположение загрузочного диска с дистрибутивом ОС (</a:t>
            </a:r>
            <a:r>
              <a:rPr lang="ru-RU" sz="1800" dirty="0" err="1"/>
              <a:t>соответствующ</a:t>
            </a:r>
            <a:r>
              <a:rPr lang="en-US" sz="1800" dirty="0" err="1"/>
              <a:t>ий</a:t>
            </a:r>
            <a:r>
              <a:rPr lang="en-US" sz="1800" dirty="0"/>
              <a:t> </a:t>
            </a:r>
            <a:r>
              <a:rPr lang="ru-RU" sz="1800" dirty="0"/>
              <a:t>файл с расширением </a:t>
            </a:r>
            <a:r>
              <a:rPr lang="ru-RU" sz="1800" dirty="0" err="1"/>
              <a:t>iso</a:t>
            </a:r>
            <a:r>
              <a:rPr lang="ru-RU" sz="1800" dirty="0"/>
              <a:t> из папки </a:t>
            </a:r>
            <a:r>
              <a:rPr lang="ru-RU" sz="1800" dirty="0" err="1"/>
              <a:t>Distrib</a:t>
            </a:r>
            <a:r>
              <a:rPr lang="ru-RU" sz="1800" dirty="0"/>
              <a:t> OS на диске </a:t>
            </a:r>
            <a:r>
              <a:rPr lang="en-US" sz="1800" b="1" u="sng" dirty="0">
                <a:solidFill>
                  <a:srgbClr val="FF0000"/>
                </a:solidFill>
              </a:rPr>
              <a:t>D:</a:t>
            </a:r>
            <a:r>
              <a:rPr lang="ru-RU" sz="1800" b="1" u="sng" dirty="0">
                <a:solidFill>
                  <a:srgbClr val="FF0000"/>
                </a:solidFill>
              </a:rPr>
              <a:t>\</a:t>
            </a:r>
            <a:r>
              <a:rPr lang="en-US" sz="1800" b="1" u="sng" dirty="0">
                <a:solidFill>
                  <a:srgbClr val="FF0000"/>
                </a:solidFill>
              </a:rPr>
              <a:t>Users</a:t>
            </a:r>
            <a:r>
              <a:rPr lang="ru-RU" sz="1800" b="1" u="sng" dirty="0">
                <a:solidFill>
                  <a:srgbClr val="FF0000"/>
                </a:solidFill>
              </a:rPr>
              <a:t>\</a:t>
            </a:r>
            <a:r>
              <a:rPr lang="en-US" sz="1800" b="1" u="sng" dirty="0" err="1">
                <a:solidFill>
                  <a:srgbClr val="FF0000"/>
                </a:solidFill>
              </a:rPr>
              <a:t>iamv</a:t>
            </a:r>
            <a:r>
              <a:rPr lang="ru-RU" sz="1800" b="1" dirty="0">
                <a:solidFill>
                  <a:srgbClr val="FF0000"/>
                </a:solidFill>
              </a:rPr>
              <a:t> или</a:t>
            </a:r>
            <a:r>
              <a:rPr lang="en-US" sz="1800" b="1" dirty="0">
                <a:solidFill>
                  <a:srgbClr val="FF0000"/>
                </a:solidFill>
              </a:rPr>
              <a:t> </a:t>
            </a:r>
            <a:r>
              <a:rPr lang="en-US" sz="1800" b="1" u="sng" dirty="0">
                <a:solidFill>
                  <a:srgbClr val="FF0000"/>
                </a:solidFill>
              </a:rPr>
              <a:t>D:</a:t>
            </a:r>
            <a:r>
              <a:rPr lang="ru-RU" sz="1800" b="1" u="sng" dirty="0">
                <a:solidFill>
                  <a:srgbClr val="FF0000"/>
                </a:solidFill>
              </a:rPr>
              <a:t>\</a:t>
            </a:r>
            <a:r>
              <a:rPr lang="en-US" sz="1800" b="1" u="sng" dirty="0">
                <a:solidFill>
                  <a:srgbClr val="FF0000"/>
                </a:solidFill>
              </a:rPr>
              <a:t>Users</a:t>
            </a:r>
            <a:r>
              <a:rPr lang="ru-RU" sz="1800" b="1" u="sng" dirty="0">
                <a:solidFill>
                  <a:srgbClr val="FF0000"/>
                </a:solidFill>
              </a:rPr>
              <a:t>\</a:t>
            </a:r>
            <a:r>
              <a:rPr lang="en-US" sz="1800" b="1" u="sng" dirty="0" err="1">
                <a:solidFill>
                  <a:srgbClr val="FF0000"/>
                </a:solidFill>
              </a:rPr>
              <a:t>iamo</a:t>
            </a:r>
            <a:r>
              <a:rPr lang="ru-RU" sz="1800" b="1" dirty="0">
                <a:solidFill>
                  <a:srgbClr val="FF0000"/>
                </a:solidFill>
              </a:rPr>
              <a:t> </a:t>
            </a:r>
            <a:r>
              <a:rPr lang="en-US" sz="1800" b="1" dirty="0">
                <a:solidFill>
                  <a:srgbClr val="FF0000"/>
                </a:solidFill>
              </a:rPr>
              <a:t> </a:t>
            </a:r>
            <a:r>
              <a:rPr lang="ru-RU" sz="1800" b="1" dirty="0">
                <a:solidFill>
                  <a:srgbClr val="FF0000"/>
                </a:solidFill>
              </a:rPr>
              <a:t>или</a:t>
            </a:r>
            <a:r>
              <a:rPr lang="en-US" sz="1800" b="1" dirty="0">
                <a:solidFill>
                  <a:srgbClr val="FF0000"/>
                </a:solidFill>
              </a:rPr>
              <a:t> </a:t>
            </a:r>
            <a:r>
              <a:rPr lang="en-US" sz="1800" b="1" u="sng" dirty="0">
                <a:solidFill>
                  <a:srgbClr val="FF0000"/>
                </a:solidFill>
              </a:rPr>
              <a:t>D:</a:t>
            </a:r>
            <a:r>
              <a:rPr lang="ru-RU" sz="1800" b="1" u="sng" dirty="0">
                <a:solidFill>
                  <a:srgbClr val="FF0000"/>
                </a:solidFill>
              </a:rPr>
              <a:t>\</a:t>
            </a:r>
            <a:r>
              <a:rPr lang="en-US" sz="1800" b="1" u="sng" dirty="0">
                <a:solidFill>
                  <a:srgbClr val="FF0000"/>
                </a:solidFill>
              </a:rPr>
              <a:t>Users</a:t>
            </a:r>
            <a:r>
              <a:rPr lang="ru-RU" sz="1800" b="1" u="sng" dirty="0">
                <a:solidFill>
                  <a:srgbClr val="FF0000"/>
                </a:solidFill>
              </a:rPr>
              <a:t>\</a:t>
            </a:r>
            <a:r>
              <a:rPr lang="en-US" sz="1800" b="1" u="sng" dirty="0" err="1">
                <a:solidFill>
                  <a:srgbClr val="FF0000"/>
                </a:solidFill>
              </a:rPr>
              <a:t>iamp</a:t>
            </a:r>
            <a:r>
              <a:rPr lang="ru-RU" sz="1800" b="1" dirty="0">
                <a:solidFill>
                  <a:srgbClr val="FF0000"/>
                </a:solidFill>
              </a:rPr>
              <a:t>  или </a:t>
            </a:r>
            <a:r>
              <a:rPr lang="en-US" sz="1800" b="1" u="sng" dirty="0">
                <a:solidFill>
                  <a:srgbClr val="FF0000"/>
                </a:solidFill>
              </a:rPr>
              <a:t>D:\Users\iami </a:t>
            </a:r>
            <a:r>
              <a:rPr lang="ru-RU" sz="1800" dirty="0"/>
              <a:t>)</a:t>
            </a:r>
            <a:r>
              <a:rPr lang="en-US" sz="1800" dirty="0"/>
              <a:t>.</a:t>
            </a:r>
            <a:endParaRPr lang="ru-RU" sz="1800" dirty="0"/>
          </a:p>
          <a:p>
            <a:pPr>
              <a:buNone/>
            </a:pPr>
            <a:endParaRPr lang="ru-RU" sz="1800" dirty="0"/>
          </a:p>
          <a:p>
            <a:pPr>
              <a:buNone/>
            </a:pPr>
            <a:endParaRPr lang="ru-RU" sz="18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1832275"/>
            <a:ext cx="8820472" cy="5025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395956452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Содержимое 1"/>
          <p:cNvSpPr>
            <a:spLocks noGrp="1"/>
          </p:cNvSpPr>
          <p:nvPr>
            <p:ph/>
          </p:nvPr>
        </p:nvSpPr>
        <p:spPr>
          <a:xfrm>
            <a:off x="0" y="0"/>
            <a:ext cx="9144000" cy="107154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ru-RU" sz="1800" dirty="0"/>
              <a:t>8. Устанавливать версию "</a:t>
            </a:r>
            <a:r>
              <a:rPr lang="en-US" sz="1800" dirty="0"/>
              <a:t>Windows Server 2012 </a:t>
            </a:r>
            <a:r>
              <a:rPr lang="en-US" sz="1800" dirty="0" err="1"/>
              <a:t>Stantard</a:t>
            </a:r>
            <a:r>
              <a:rPr lang="en-US" sz="1800" dirty="0"/>
              <a:t> (</a:t>
            </a:r>
            <a:r>
              <a:rPr lang="ru-RU" sz="1800" dirty="0">
                <a:solidFill>
                  <a:srgbClr val="C00000"/>
                </a:solidFill>
              </a:rPr>
              <a:t>сервер с графическим интерфейсом</a:t>
            </a:r>
            <a:r>
              <a:rPr lang="en-US" sz="1800" dirty="0"/>
              <a:t>)</a:t>
            </a:r>
            <a:r>
              <a:rPr lang="ru-RU" sz="1800" dirty="0"/>
              <a:t>"</a:t>
            </a:r>
            <a:endParaRPr lang="en-US" sz="1800" dirty="0"/>
          </a:p>
          <a:p>
            <a:pPr>
              <a:buNone/>
            </a:pPr>
            <a:endParaRPr lang="ru-RU" sz="1800" dirty="0"/>
          </a:p>
          <a:p>
            <a:pPr>
              <a:buNone/>
            </a:pPr>
            <a:endParaRPr lang="ru-RU" sz="18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07504" y="5426640"/>
            <a:ext cx="9144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dirty="0"/>
              <a:t>9. Тип установки – </a:t>
            </a:r>
            <a:r>
              <a:rPr lang="en-US" dirty="0"/>
              <a:t>"</a:t>
            </a:r>
            <a:r>
              <a:rPr lang="ru-RU" dirty="0"/>
              <a:t>выборочная" на "не занятое пространство".</a:t>
            </a:r>
          </a:p>
          <a:p>
            <a:pPr>
              <a:buNone/>
            </a:pPr>
            <a:r>
              <a:rPr lang="ru-RU" dirty="0"/>
              <a:t>10. Пропустить ввод ключа.</a:t>
            </a:r>
          </a:p>
          <a:p>
            <a:pPr>
              <a:buNone/>
            </a:pPr>
            <a:r>
              <a:rPr lang="ru-RU" dirty="0"/>
              <a:t>11. Задать и </a:t>
            </a:r>
            <a:r>
              <a:rPr lang="ru-RU" b="1" u="sng" dirty="0">
                <a:solidFill>
                  <a:srgbClr val="FF0000"/>
                </a:solidFill>
              </a:rPr>
              <a:t>записать, чтобы не забыть</a:t>
            </a:r>
            <a:r>
              <a:rPr lang="ru-RU" dirty="0"/>
              <a:t> пароль администратора (на кириллице или латинице) – не менее 8 символов из букв и цифр (буквы должны быть заглавные и строчные). 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3528" y="692696"/>
            <a:ext cx="8001056" cy="4572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312313241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Содержимое 1"/>
          <p:cNvSpPr>
            <a:spLocks noGrp="1"/>
          </p:cNvSpPr>
          <p:nvPr>
            <p:ph/>
          </p:nvPr>
        </p:nvSpPr>
        <p:spPr>
          <a:xfrm>
            <a:off x="0" y="0"/>
            <a:ext cx="9144000" cy="428604"/>
          </a:xfrm>
        </p:spPr>
        <p:txBody>
          <a:bodyPr>
            <a:noAutofit/>
          </a:bodyPr>
          <a:lstStyle/>
          <a:p>
            <a:pPr>
              <a:buNone/>
            </a:pPr>
            <a:endParaRPr lang="ru-RU" sz="1800" dirty="0"/>
          </a:p>
          <a:p>
            <a:pPr>
              <a:buNone/>
            </a:pPr>
            <a:endParaRPr lang="ru-RU" sz="18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285728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dirty="0"/>
              <a:t>12. В настройке виртуальной машины </a:t>
            </a:r>
            <a:r>
              <a:rPr lang="en-US" dirty="0"/>
              <a:t>Windows Server 2012</a:t>
            </a:r>
            <a:r>
              <a:rPr lang="ru-RU" dirty="0"/>
              <a:t> установить для сети</a:t>
            </a:r>
            <a:r>
              <a:rPr lang="en-US" dirty="0"/>
              <a:t> - </a:t>
            </a:r>
            <a:r>
              <a:rPr lang="ru-RU" dirty="0"/>
              <a:t> </a:t>
            </a:r>
            <a:r>
              <a:rPr lang="ru-RU" u="sng" dirty="0">
                <a:solidFill>
                  <a:srgbClr val="FF0000"/>
                </a:solidFill>
              </a:rPr>
              <a:t>"Внутренняя сеть"</a:t>
            </a:r>
            <a:r>
              <a:rPr lang="ru-RU" dirty="0"/>
              <a:t>.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1214422"/>
            <a:ext cx="7972425" cy="454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68021423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Содержимое 1"/>
          <p:cNvSpPr>
            <a:spLocks noGrp="1"/>
          </p:cNvSpPr>
          <p:nvPr>
            <p:ph/>
          </p:nvPr>
        </p:nvSpPr>
        <p:spPr>
          <a:xfrm>
            <a:off x="0" y="0"/>
            <a:ext cx="9144000" cy="428604"/>
          </a:xfrm>
        </p:spPr>
        <p:txBody>
          <a:bodyPr>
            <a:noAutofit/>
          </a:bodyPr>
          <a:lstStyle/>
          <a:p>
            <a:pPr>
              <a:buNone/>
            </a:pPr>
            <a:endParaRPr lang="ru-RU" sz="1800" dirty="0"/>
          </a:p>
          <a:p>
            <a:pPr>
              <a:buNone/>
            </a:pPr>
            <a:endParaRPr lang="ru-RU" sz="18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285728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dirty="0"/>
              <a:t>13. После завершения установки, зайти на сервер от имени администратора сервера и в настройках сетевого адаптера виртуальной машины </a:t>
            </a:r>
            <a:r>
              <a:rPr lang="en-US" dirty="0"/>
              <a:t>Windows Server 2012</a:t>
            </a:r>
            <a:r>
              <a:rPr lang="ru-RU" dirty="0"/>
              <a:t> убрать использование протокола </a:t>
            </a:r>
            <a:r>
              <a:rPr lang="en-US" dirty="0" err="1"/>
              <a:t>IPv</a:t>
            </a:r>
            <a:r>
              <a:rPr lang="ru-RU" dirty="0"/>
              <a:t>.6</a:t>
            </a:r>
            <a:r>
              <a:rPr lang="en-US" dirty="0"/>
              <a:t>, а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прото</a:t>
            </a:r>
            <a:r>
              <a:rPr lang="ru-RU" dirty="0"/>
              <a:t>кола </a:t>
            </a:r>
            <a:r>
              <a:rPr lang="en-US" dirty="0"/>
              <a:t>IP</a:t>
            </a:r>
            <a:r>
              <a:rPr lang="ru-RU" dirty="0"/>
              <a:t> </a:t>
            </a:r>
            <a:r>
              <a:rPr lang="en-US" dirty="0"/>
              <a:t>v</a:t>
            </a:r>
            <a:r>
              <a:rPr lang="ru-RU" dirty="0"/>
              <a:t>.</a:t>
            </a:r>
            <a:r>
              <a:rPr lang="en-US" dirty="0"/>
              <a:t>4 </a:t>
            </a:r>
            <a:r>
              <a:rPr lang="en-US" dirty="0" err="1"/>
              <a:t>установить</a:t>
            </a:r>
            <a:r>
              <a:rPr lang="en-US" dirty="0"/>
              <a:t> </a:t>
            </a:r>
            <a:r>
              <a:rPr lang="en-US" dirty="0" err="1"/>
              <a:t>адрес</a:t>
            </a:r>
            <a:r>
              <a:rPr lang="en-US" dirty="0"/>
              <a:t> </a:t>
            </a:r>
            <a:r>
              <a:rPr lang="ru-RU" dirty="0"/>
              <a:t>сервера</a:t>
            </a:r>
            <a:r>
              <a:rPr lang="en-US" dirty="0"/>
              <a:t> </a:t>
            </a:r>
            <a:r>
              <a:rPr lang="ru-RU" dirty="0"/>
              <a:t>192.168.1.1 и маску 255.255.255.0.</a:t>
            </a: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1428736"/>
            <a:ext cx="2152650" cy="79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7" name="Прямая со стрелкой 6"/>
          <p:cNvCxnSpPr/>
          <p:nvPr/>
        </p:nvCxnSpPr>
        <p:spPr>
          <a:xfrm rot="16200000" flipH="1">
            <a:off x="428596" y="1428736"/>
            <a:ext cx="500066" cy="500066"/>
          </a:xfrm>
          <a:prstGeom prst="straightConnector1">
            <a:avLst/>
          </a:prstGeom>
          <a:ln w="158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86314" y="1428736"/>
            <a:ext cx="2733675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3" name="Прямая со стрелкой 12"/>
          <p:cNvCxnSpPr/>
          <p:nvPr/>
        </p:nvCxnSpPr>
        <p:spPr>
          <a:xfrm rot="16200000" flipH="1">
            <a:off x="4429124" y="1428736"/>
            <a:ext cx="500066" cy="500066"/>
          </a:xfrm>
          <a:prstGeom prst="straightConnector1">
            <a:avLst/>
          </a:prstGeom>
          <a:ln w="158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85720" y="2500306"/>
            <a:ext cx="2657475" cy="2266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5" name="Прямая со стрелкой 14"/>
          <p:cNvCxnSpPr/>
          <p:nvPr/>
        </p:nvCxnSpPr>
        <p:spPr>
          <a:xfrm flipV="1">
            <a:off x="642910" y="4643446"/>
            <a:ext cx="500066" cy="285752"/>
          </a:xfrm>
          <a:prstGeom prst="straightConnector1">
            <a:avLst/>
          </a:prstGeom>
          <a:ln w="158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7" name="Picture 7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357686" y="2500306"/>
            <a:ext cx="3054482" cy="3856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20" name="Прямая со стрелкой 19"/>
          <p:cNvCxnSpPr/>
          <p:nvPr/>
        </p:nvCxnSpPr>
        <p:spPr>
          <a:xfrm rot="10800000">
            <a:off x="6572264" y="5214950"/>
            <a:ext cx="1428760" cy="785818"/>
          </a:xfrm>
          <a:prstGeom prst="straightConnector1">
            <a:avLst/>
          </a:prstGeom>
          <a:ln w="158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2039746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Содержимое 1"/>
          <p:cNvSpPr>
            <a:spLocks noGrp="1"/>
          </p:cNvSpPr>
          <p:nvPr>
            <p:ph/>
          </p:nvPr>
        </p:nvSpPr>
        <p:spPr>
          <a:xfrm>
            <a:off x="0" y="0"/>
            <a:ext cx="9144000" cy="428604"/>
          </a:xfrm>
        </p:spPr>
        <p:txBody>
          <a:bodyPr>
            <a:noAutofit/>
          </a:bodyPr>
          <a:lstStyle/>
          <a:p>
            <a:pPr>
              <a:buNone/>
            </a:pPr>
            <a:endParaRPr lang="ru-RU" sz="1800" dirty="0"/>
          </a:p>
          <a:p>
            <a:pPr>
              <a:buNone/>
            </a:pPr>
            <a:endParaRPr lang="ru-RU" sz="1800" dirty="0"/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43786E1E-2DE3-4DD6-A3ED-F6538576EBC8}"/>
              </a:ext>
            </a:extLst>
          </p:cNvPr>
          <p:cNvGrpSpPr/>
          <p:nvPr/>
        </p:nvGrpSpPr>
        <p:grpSpPr>
          <a:xfrm>
            <a:off x="1643042" y="714356"/>
            <a:ext cx="4833958" cy="5299882"/>
            <a:chOff x="1643042" y="714356"/>
            <a:chExt cx="4833958" cy="5299882"/>
          </a:xfrm>
        </p:grpSpPr>
        <p:pic>
          <p:nvPicPr>
            <p:cNvPr id="6146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643042" y="714356"/>
              <a:ext cx="4833958" cy="52998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3" name="Рисунок 2">
              <a:extLst>
                <a:ext uri="{FF2B5EF4-FFF2-40B4-BE49-F238E27FC236}">
                  <a16:creationId xmlns:a16="http://schemas.microsoft.com/office/drawing/2014/main" id="{C755902D-2BAD-4D7E-B57B-552865F07F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70942" y="4236688"/>
              <a:ext cx="1625061" cy="33423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14176332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Содержимое 1"/>
          <p:cNvSpPr>
            <a:spLocks noGrp="1"/>
          </p:cNvSpPr>
          <p:nvPr>
            <p:ph/>
          </p:nvPr>
        </p:nvSpPr>
        <p:spPr>
          <a:xfrm>
            <a:off x="0" y="-27384"/>
            <a:ext cx="9144000" cy="100010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ru-RU" sz="1800" dirty="0"/>
              <a:t>14. Через </a:t>
            </a:r>
            <a:r>
              <a:rPr lang="ru-RU" sz="1800" b="1" dirty="0"/>
              <a:t>Управление компьютером </a:t>
            </a:r>
            <a:r>
              <a:rPr lang="ru-RU" sz="1800" dirty="0"/>
              <a:t>открыть  "Службы» и </a:t>
            </a:r>
            <a:r>
              <a:rPr lang="ru-RU" sz="1800" u="sng" dirty="0"/>
              <a:t>отключить</a:t>
            </a:r>
            <a:r>
              <a:rPr lang="ru-RU" sz="1800" dirty="0"/>
              <a:t> брандмауэр</a:t>
            </a:r>
            <a:r>
              <a:rPr lang="en-US" sz="1800" dirty="0"/>
              <a:t>:</a:t>
            </a:r>
            <a:endParaRPr lang="ru-RU" sz="1800" dirty="0"/>
          </a:p>
          <a:p>
            <a:pPr>
              <a:buNone/>
            </a:pPr>
            <a:endParaRPr lang="ru-RU" sz="1800" dirty="0"/>
          </a:p>
          <a:p>
            <a:pPr>
              <a:buNone/>
            </a:pPr>
            <a:endParaRPr lang="ru-RU" sz="1800" dirty="0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9296" y="2000240"/>
            <a:ext cx="8390270" cy="2786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4" name="Прямая со стрелкой 3"/>
          <p:cNvCxnSpPr/>
          <p:nvPr/>
        </p:nvCxnSpPr>
        <p:spPr>
          <a:xfrm rot="10800000" flipV="1">
            <a:off x="4357686" y="642918"/>
            <a:ext cx="2357454" cy="2000264"/>
          </a:xfrm>
          <a:prstGeom prst="straightConnector1">
            <a:avLst/>
          </a:prstGeom>
          <a:ln w="158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7910080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581150"/>
            <a:ext cx="8534400" cy="3695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7" name="Прямая со стрелкой 6"/>
          <p:cNvCxnSpPr>
            <a:cxnSpLocks/>
          </p:cNvCxnSpPr>
          <p:nvPr/>
        </p:nvCxnSpPr>
        <p:spPr>
          <a:xfrm>
            <a:off x="2643174" y="857232"/>
            <a:ext cx="2720914" cy="3579880"/>
          </a:xfrm>
          <a:prstGeom prst="straightConnector1">
            <a:avLst/>
          </a:prstGeom>
          <a:ln w="158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 стрелкой 4">
            <a:extLst>
              <a:ext uri="{FF2B5EF4-FFF2-40B4-BE49-F238E27FC236}">
                <a16:creationId xmlns:a16="http://schemas.microsoft.com/office/drawing/2014/main" id="{15202D27-06DF-4BD4-81C6-17410C5E7686}"/>
              </a:ext>
            </a:extLst>
          </p:cNvPr>
          <p:cNvCxnSpPr>
            <a:cxnSpLocks/>
          </p:cNvCxnSpPr>
          <p:nvPr/>
        </p:nvCxnSpPr>
        <p:spPr>
          <a:xfrm>
            <a:off x="2643174" y="857232"/>
            <a:ext cx="1208746" cy="987592"/>
          </a:xfrm>
          <a:prstGeom prst="straightConnector1">
            <a:avLst/>
          </a:prstGeom>
          <a:ln w="158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3144335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2977" y="1966913"/>
            <a:ext cx="5195912" cy="42995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6" name="Прямая со стрелкой 5"/>
          <p:cNvCxnSpPr>
            <a:cxnSpLocks/>
          </p:cNvCxnSpPr>
          <p:nvPr/>
        </p:nvCxnSpPr>
        <p:spPr>
          <a:xfrm>
            <a:off x="3419872" y="332656"/>
            <a:ext cx="366310" cy="5025170"/>
          </a:xfrm>
          <a:prstGeom prst="straightConnector1">
            <a:avLst/>
          </a:prstGeom>
          <a:ln w="158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Содержимое 1">
            <a:extLst>
              <a:ext uri="{FF2B5EF4-FFF2-40B4-BE49-F238E27FC236}">
                <a16:creationId xmlns:a16="http://schemas.microsoft.com/office/drawing/2014/main" id="{9024F067-D351-40FC-954E-5CA0D87A0920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0" y="0"/>
            <a:ext cx="9144000" cy="591505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ru-RU" sz="1800" dirty="0"/>
              <a:t>Правой кнопкой открыть  контекстное меню и </a:t>
            </a:r>
            <a:r>
              <a:rPr lang="ru-RU" sz="1800" u="sng" dirty="0"/>
              <a:t>отключить</a:t>
            </a:r>
            <a:r>
              <a:rPr lang="ru-RU" sz="1800" dirty="0"/>
              <a:t> брандмауэр</a:t>
            </a:r>
            <a:r>
              <a:rPr lang="en-US" sz="1800" dirty="0"/>
              <a:t>:</a:t>
            </a:r>
            <a:endParaRPr lang="ru-RU" sz="1800" dirty="0"/>
          </a:p>
          <a:p>
            <a:pPr>
              <a:buNone/>
            </a:pPr>
            <a:endParaRPr lang="ru-RU" sz="1800" dirty="0"/>
          </a:p>
        </p:txBody>
      </p: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5E80FDA1-76F0-4451-ABA8-8093D2B99C7E}"/>
              </a:ext>
            </a:extLst>
          </p:cNvPr>
          <p:cNvCxnSpPr>
            <a:cxnSpLocks/>
          </p:cNvCxnSpPr>
          <p:nvPr/>
        </p:nvCxnSpPr>
        <p:spPr>
          <a:xfrm flipH="1">
            <a:off x="2267744" y="332656"/>
            <a:ext cx="1152128" cy="2592288"/>
          </a:xfrm>
          <a:prstGeom prst="straightConnector1">
            <a:avLst/>
          </a:prstGeom>
          <a:ln w="158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2137885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14480" y="618369"/>
            <a:ext cx="5357849" cy="60227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7" name="Прямая со стрелкой 6"/>
          <p:cNvCxnSpPr/>
          <p:nvPr/>
        </p:nvCxnSpPr>
        <p:spPr>
          <a:xfrm rot="16200000" flipH="1">
            <a:off x="714348" y="1000108"/>
            <a:ext cx="2571768" cy="2428892"/>
          </a:xfrm>
          <a:prstGeom prst="straightConnector1">
            <a:avLst/>
          </a:prstGeom>
          <a:ln w="158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8048942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Содержимое 1"/>
          <p:cNvSpPr>
            <a:spLocks noGrp="1"/>
          </p:cNvSpPr>
          <p:nvPr>
            <p:ph/>
          </p:nvPr>
        </p:nvSpPr>
        <p:spPr>
          <a:xfrm>
            <a:off x="0" y="0"/>
            <a:ext cx="9144000" cy="78579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ru-RU" sz="1800" dirty="0"/>
              <a:t>15. Там же отключить обновление ОС </a:t>
            </a:r>
            <a:r>
              <a:rPr lang="en-US" sz="1800" dirty="0"/>
              <a:t>Windows</a:t>
            </a:r>
            <a:r>
              <a:rPr lang="ru-RU" sz="1800" dirty="0"/>
              <a:t>.</a:t>
            </a:r>
          </a:p>
          <a:p>
            <a:pPr marL="0" indent="0">
              <a:spcBef>
                <a:spcPts val="0"/>
              </a:spcBef>
              <a:buNone/>
            </a:pPr>
            <a:endParaRPr lang="ru-RU" sz="1800" b="1" dirty="0"/>
          </a:p>
          <a:p>
            <a:pPr>
              <a:buNone/>
            </a:pPr>
            <a:endParaRPr lang="ru-RU" sz="1800" dirty="0"/>
          </a:p>
          <a:p>
            <a:pPr>
              <a:buNone/>
            </a:pPr>
            <a:endParaRPr lang="ru-RU" sz="1800" dirty="0"/>
          </a:p>
          <a:p>
            <a:pPr>
              <a:buNone/>
            </a:pPr>
            <a:endParaRPr lang="ru-RU" sz="1800" dirty="0"/>
          </a:p>
        </p:txBody>
      </p:sp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2976" y="1714488"/>
            <a:ext cx="7413965" cy="2509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5" name="Прямая со стрелкой 4"/>
          <p:cNvCxnSpPr/>
          <p:nvPr/>
        </p:nvCxnSpPr>
        <p:spPr>
          <a:xfrm>
            <a:off x="785786" y="928670"/>
            <a:ext cx="2428892" cy="2143140"/>
          </a:xfrm>
          <a:prstGeom prst="straightConnector1">
            <a:avLst/>
          </a:prstGeom>
          <a:ln w="158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7709607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Содержимое 1"/>
          <p:cNvSpPr>
            <a:spLocks noGrp="1"/>
          </p:cNvSpPr>
          <p:nvPr>
            <p:ph/>
          </p:nvPr>
        </p:nvSpPr>
        <p:spPr>
          <a:xfrm>
            <a:off x="0" y="0"/>
            <a:ext cx="9144000" cy="928670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800" dirty="0"/>
              <a:t>16. Для входа на сервер от имени администратора</a:t>
            </a:r>
            <a:r>
              <a:rPr lang="en-US" sz="1800" dirty="0"/>
              <a:t> (</a:t>
            </a:r>
            <a:r>
              <a:rPr lang="ru-RU" sz="1800" dirty="0"/>
              <a:t>для удобства при дальнейшем управлением им</a:t>
            </a:r>
            <a:r>
              <a:rPr lang="en-US" sz="1800" dirty="0"/>
              <a:t>)</a:t>
            </a:r>
            <a:r>
              <a:rPr lang="ru-RU" sz="1800" dirty="0"/>
              <a:t>,</a:t>
            </a:r>
            <a:r>
              <a:rPr lang="en-US" sz="1800" dirty="0"/>
              <a:t> </a:t>
            </a:r>
            <a:r>
              <a:rPr lang="ru-RU" sz="1800" dirty="0"/>
              <a:t>сделать установки по умолчанию: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ru-RU" sz="1800" dirty="0"/>
              <a:t> </a:t>
            </a:r>
            <a:r>
              <a:rPr lang="ru-RU" sz="1800" b="1" dirty="0"/>
              <a:t>языка ввода (латиница);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ru-RU" sz="1800" b="1" dirty="0"/>
              <a:t>переключения клавиатуры (</a:t>
            </a:r>
            <a:r>
              <a:rPr lang="en-US" sz="1800" b="1" dirty="0" err="1"/>
              <a:t>ctrl+shift</a:t>
            </a:r>
            <a:r>
              <a:rPr lang="ru-RU" sz="1800" b="1" dirty="0"/>
              <a:t>)</a:t>
            </a:r>
            <a:r>
              <a:rPr lang="ru-RU" sz="1800" dirty="0"/>
              <a:t>.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800" dirty="0"/>
              <a:t>Для этого из </a:t>
            </a:r>
            <a:r>
              <a:rPr lang="en-US" sz="1800" dirty="0"/>
              <a:t>PowerShell </a:t>
            </a:r>
            <a:r>
              <a:rPr lang="ru-RU" sz="1800" dirty="0"/>
              <a:t>запустить редактор реестра </a:t>
            </a:r>
            <a:r>
              <a:rPr lang="ru-RU" sz="1800" b="1" dirty="0" err="1"/>
              <a:t>regedit</a:t>
            </a:r>
            <a:r>
              <a:rPr lang="ru-RU" sz="1800" dirty="0"/>
              <a:t>.  </a:t>
            </a:r>
          </a:p>
          <a:p>
            <a:pPr marL="0" indent="0">
              <a:spcBef>
                <a:spcPts val="0"/>
              </a:spcBef>
              <a:buNone/>
            </a:pPr>
            <a:endParaRPr lang="ru-RU" sz="1800" dirty="0"/>
          </a:p>
          <a:p>
            <a:pPr marL="0" indent="0">
              <a:spcBef>
                <a:spcPts val="0"/>
              </a:spcBef>
              <a:buNone/>
            </a:pPr>
            <a:endParaRPr lang="ru-RU" sz="1800" dirty="0"/>
          </a:p>
          <a:p>
            <a:pPr marL="0" indent="0">
              <a:spcBef>
                <a:spcPts val="0"/>
              </a:spcBef>
              <a:buNone/>
            </a:pPr>
            <a:endParaRPr lang="ru-RU" sz="1800" dirty="0"/>
          </a:p>
          <a:p>
            <a:pPr>
              <a:buNone/>
            </a:pPr>
            <a:endParaRPr lang="ru-RU" sz="1800" b="1" dirty="0"/>
          </a:p>
          <a:p>
            <a:pPr>
              <a:buNone/>
            </a:pPr>
            <a:endParaRPr lang="ru-RU" sz="1800" dirty="0"/>
          </a:p>
          <a:p>
            <a:pPr>
              <a:buNone/>
            </a:pPr>
            <a:endParaRPr lang="ru-RU" sz="1800" dirty="0"/>
          </a:p>
          <a:p>
            <a:pPr>
              <a:buNone/>
            </a:pPr>
            <a:endParaRPr lang="ru-RU" sz="1800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504" y="1940122"/>
            <a:ext cx="6286500" cy="962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7505" y="2906838"/>
            <a:ext cx="6286500" cy="3948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972043683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914400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ru-RU" dirty="0"/>
              <a:t>Изменить следующие ключи: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Язык по умолчанию – английский (</a:t>
            </a:r>
            <a:r>
              <a:rPr lang="en-US" u="sng" dirty="0"/>
              <a:t>DEFAULT</a:t>
            </a:r>
            <a:r>
              <a:rPr lang="ru-RU" u="sng" dirty="0"/>
              <a:t> </a:t>
            </a:r>
            <a:r>
              <a:rPr lang="en-US" u="sng" dirty="0"/>
              <a:t>   ENG</a:t>
            </a:r>
            <a:r>
              <a:rPr lang="ru-RU" u="sng" dirty="0"/>
              <a:t>):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dirty="0"/>
              <a:t> </a:t>
            </a:r>
            <a:r>
              <a:rPr lang="en-US" b="1" dirty="0"/>
              <a:t>[HKEY_USERS\.DEFAULT\Keyboard Layout\Preload]</a:t>
            </a:r>
            <a:r>
              <a:rPr lang="ru-RU" b="1" dirty="0"/>
              <a:t> 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"1"="00000409"</a:t>
            </a:r>
          </a:p>
          <a:p>
            <a:pPr marL="0" indent="0">
              <a:buNone/>
            </a:pPr>
            <a:r>
              <a:rPr lang="en-US" dirty="0"/>
              <a:t>"2"="00000419“</a:t>
            </a: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Переключение языков ввода по </a:t>
            </a:r>
            <a:r>
              <a:rPr lang="en-US" dirty="0" err="1"/>
              <a:t>Ctrl+Shift</a:t>
            </a:r>
            <a:r>
              <a:rPr lang="ru-RU" dirty="0"/>
              <a:t> (</a:t>
            </a:r>
            <a:r>
              <a:rPr lang="en-US" u="sng" dirty="0"/>
              <a:t>DEFAULT</a:t>
            </a:r>
            <a:r>
              <a:rPr lang="ru-RU" u="sng" dirty="0"/>
              <a:t> </a:t>
            </a:r>
            <a:r>
              <a:rPr lang="en-US" u="sng" dirty="0"/>
              <a:t>     Toggle</a:t>
            </a:r>
            <a:r>
              <a:rPr lang="ru-RU" u="sng" dirty="0"/>
              <a:t>):</a:t>
            </a:r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r>
              <a:rPr lang="en-US" b="1" dirty="0"/>
              <a:t>[HKEY_USERS\.DEFAULT\Keyboard Layout\Toggle]</a:t>
            </a:r>
          </a:p>
          <a:p>
            <a:pPr marL="0" indent="0">
              <a:buNone/>
            </a:pPr>
            <a:r>
              <a:rPr lang="en-US" dirty="0"/>
              <a:t>"Hotkey"="2"</a:t>
            </a:r>
          </a:p>
          <a:p>
            <a:pPr marL="0" indent="0">
              <a:buNone/>
            </a:pPr>
            <a:r>
              <a:rPr lang="en-US" dirty="0"/>
              <a:t>"Language Hotkey"="2"</a:t>
            </a:r>
          </a:p>
          <a:p>
            <a:pPr marL="0" indent="0">
              <a:buNone/>
            </a:pPr>
            <a:r>
              <a:rPr lang="en-US" dirty="0"/>
              <a:t>"Layout Hotkey"="1”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96317785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357166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dirty="0"/>
              <a:t>17. Через </a:t>
            </a:r>
            <a:r>
              <a:rPr lang="ru-RU" b="1" dirty="0"/>
              <a:t>Диспетчер серверов-</a:t>
            </a:r>
            <a:r>
              <a:rPr lang="en-US" b="1" dirty="0"/>
              <a:t>&gt;</a:t>
            </a:r>
            <a:r>
              <a:rPr lang="ru-RU" b="1" dirty="0"/>
              <a:t>Локальный сервер </a:t>
            </a:r>
            <a:r>
              <a:rPr lang="ru-RU" dirty="0">
                <a:solidFill>
                  <a:srgbClr val="FF0000"/>
                </a:solidFill>
              </a:rPr>
              <a:t>переименовать сервер по правилу: </a:t>
            </a:r>
            <a:r>
              <a:rPr lang="en-US" b="1" dirty="0">
                <a:solidFill>
                  <a:srgbClr val="FF0000"/>
                </a:solidFill>
              </a:rPr>
              <a:t>brig[</a:t>
            </a:r>
            <a:r>
              <a:rPr lang="en-US" b="1" dirty="0" err="1">
                <a:solidFill>
                  <a:srgbClr val="FF0000"/>
                </a:solidFill>
              </a:rPr>
              <a:t>i</a:t>
            </a:r>
            <a:r>
              <a:rPr lang="en-US" b="1" dirty="0">
                <a:solidFill>
                  <a:srgbClr val="FF0000"/>
                </a:solidFill>
              </a:rPr>
              <a:t>]</a:t>
            </a:r>
            <a:r>
              <a:rPr lang="ru-RU" dirty="0">
                <a:solidFill>
                  <a:srgbClr val="FF0000"/>
                </a:solidFill>
              </a:rPr>
              <a:t>, где </a:t>
            </a:r>
            <a:r>
              <a:rPr lang="en-US" dirty="0" err="1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-</a:t>
            </a:r>
            <a:r>
              <a:rPr lang="ru-RU" dirty="0">
                <a:solidFill>
                  <a:srgbClr val="FF0000"/>
                </a:solidFill>
              </a:rPr>
              <a:t>номер бригады. Например для бригады №1 это будет </a:t>
            </a:r>
            <a:r>
              <a:rPr lang="en-US" b="1" dirty="0">
                <a:solidFill>
                  <a:srgbClr val="FF0000"/>
                </a:solidFill>
              </a:rPr>
              <a:t>brig1</a:t>
            </a:r>
            <a:r>
              <a:rPr lang="ru-RU" b="1" dirty="0">
                <a:solidFill>
                  <a:srgbClr val="FF0000"/>
                </a:solidFill>
              </a:rPr>
              <a:t>.</a:t>
            </a:r>
          </a:p>
          <a:p>
            <a:pPr>
              <a:buNone/>
            </a:pPr>
            <a:r>
              <a:rPr lang="ru-RU" b="1" u="sng" dirty="0">
                <a:solidFill>
                  <a:srgbClr val="FF0000"/>
                </a:solidFill>
              </a:rPr>
              <a:t>Это требование обязательно!!!</a:t>
            </a:r>
          </a:p>
          <a:p>
            <a:pPr>
              <a:buNone/>
            </a:pPr>
            <a:endParaRPr lang="ru-RU" b="1" dirty="0">
              <a:solidFill>
                <a:srgbClr val="FF0000"/>
              </a:solidFill>
            </a:endParaRP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853279"/>
            <a:ext cx="9144000" cy="178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6" name="Прямая со стрелкой 5"/>
          <p:cNvCxnSpPr>
            <a:cxnSpLocks/>
          </p:cNvCxnSpPr>
          <p:nvPr/>
        </p:nvCxnSpPr>
        <p:spPr>
          <a:xfrm flipH="1">
            <a:off x="4283968" y="642918"/>
            <a:ext cx="2145420" cy="2210018"/>
          </a:xfrm>
          <a:prstGeom prst="straightConnector1">
            <a:avLst/>
          </a:prstGeom>
          <a:ln w="158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03649" y="3419625"/>
            <a:ext cx="4104456" cy="33953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1" name="Прямая со стрелкой 10"/>
          <p:cNvCxnSpPr>
            <a:cxnSpLocks/>
          </p:cNvCxnSpPr>
          <p:nvPr/>
        </p:nvCxnSpPr>
        <p:spPr>
          <a:xfrm flipH="1">
            <a:off x="3923928" y="714356"/>
            <a:ext cx="2434022" cy="4370828"/>
          </a:xfrm>
          <a:prstGeom prst="straightConnector1">
            <a:avLst/>
          </a:prstGeom>
          <a:ln w="158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4298345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dirty="0"/>
              <a:t>18. Выключить </a:t>
            </a:r>
            <a:r>
              <a:rPr lang="en-US" dirty="0"/>
              <a:t>Windows Server 2012</a:t>
            </a:r>
            <a:r>
              <a:rPr lang="ru-RU" dirty="0"/>
              <a:t> –</a:t>
            </a:r>
            <a:r>
              <a:rPr lang="en-US" dirty="0"/>
              <a:t>&gt;</a:t>
            </a:r>
            <a:r>
              <a:rPr lang="ru-RU" dirty="0"/>
              <a:t> Мышь в правый нижний угол- </a:t>
            </a:r>
            <a:r>
              <a:rPr lang="ru-RU" b="1" dirty="0" err="1"/>
              <a:t>Параметры-Выключение-Причина</a:t>
            </a:r>
            <a:r>
              <a:rPr lang="ru-RU" b="1" dirty="0"/>
              <a:t>- Обслуживание(запланированное)-Продолжить</a:t>
            </a: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3528" y="950612"/>
            <a:ext cx="4929222" cy="45931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8" name="Прямая со стрелкой 7"/>
          <p:cNvCxnSpPr/>
          <p:nvPr/>
        </p:nvCxnSpPr>
        <p:spPr>
          <a:xfrm flipH="1">
            <a:off x="5076056" y="928670"/>
            <a:ext cx="2496340" cy="2932378"/>
          </a:xfrm>
          <a:prstGeom prst="straightConnector1">
            <a:avLst/>
          </a:prstGeom>
          <a:ln w="158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14793" y="6021288"/>
            <a:ext cx="9144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/>
              <a:t>Конец выполнения работы</a:t>
            </a:r>
            <a:r>
              <a:rPr lang="ru-RU" dirty="0"/>
              <a:t>.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2232492294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1_Палитра">
  <a:themeElements>
    <a:clrScheme name="1_Палитра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1_Палитра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200" b="1" i="0" u="none" strike="noStrike" kern="1200" cap="none" spc="0" normalizeH="0" baseline="0" noProof="0" dirty="0" smtClean="0">
            <a:ln>
              <a:noFill/>
            </a:ln>
            <a:solidFill>
              <a:srgbClr val="8893A0"/>
            </a:solidFill>
            <a:effectLst/>
            <a:uLnTx/>
            <a:uFillTx/>
            <a:latin typeface="Arial" charset="0"/>
            <a:ea typeface="+mn-ea"/>
            <a:cs typeface="+mn-cs"/>
          </a:defRPr>
        </a:defPPr>
      </a:lstStyle>
    </a:txDef>
  </a:objectDefaults>
  <a:extraClrSchemeLst>
    <a:extraClrScheme>
      <a:clrScheme name="1_Палитра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Палитра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Палитра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Палитра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Палитра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Палитра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1_Палитра 3">
    <a:dk1>
      <a:srgbClr val="000000"/>
    </a:dk1>
    <a:lt1>
      <a:srgbClr val="FFFFFF"/>
    </a:lt1>
    <a:dk2>
      <a:srgbClr val="333399"/>
    </a:dk2>
    <a:lt2>
      <a:srgbClr val="1C1C1C"/>
    </a:lt2>
    <a:accent1>
      <a:srgbClr val="00E4A8"/>
    </a:accent1>
    <a:accent2>
      <a:srgbClr val="FFCF01"/>
    </a:accent2>
    <a:accent3>
      <a:srgbClr val="FFFFFF"/>
    </a:accent3>
    <a:accent4>
      <a:srgbClr val="000000"/>
    </a:accent4>
    <a:accent5>
      <a:srgbClr val="AAEFD1"/>
    </a:accent5>
    <a:accent6>
      <a:srgbClr val="E7BB01"/>
    </a:accent6>
    <a:hlink>
      <a:srgbClr val="FF0000"/>
    </a:hlink>
    <a:folHlink>
      <a:srgbClr val="3333CC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13421</TotalTime>
  <Words>641</Words>
  <Application>Microsoft Office PowerPoint</Application>
  <PresentationFormat>Экран (4:3)</PresentationFormat>
  <Paragraphs>63</Paragraphs>
  <Slides>18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2" baseType="lpstr">
      <vt:lpstr>Times New Roman</vt:lpstr>
      <vt:lpstr>Arial</vt:lpstr>
      <vt:lpstr>Wingdings</vt:lpstr>
      <vt:lpstr>1_Палитра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SPIIRAS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Заголовок слайда отсутствует</dc:title>
  <dc:creator>Gor</dc:creator>
  <cp:lastModifiedBy>Вячеслав Копешкин</cp:lastModifiedBy>
  <cp:revision>781</cp:revision>
  <cp:lastPrinted>2002-06-14T06:50:34Z</cp:lastPrinted>
  <dcterms:created xsi:type="dcterms:W3CDTF">2000-07-05T10:59:49Z</dcterms:created>
  <dcterms:modified xsi:type="dcterms:W3CDTF">2026-01-15T16:10:49Z</dcterms:modified>
</cp:coreProperties>
</file>